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74" r:id="rId5"/>
    <p:sldId id="275" r:id="rId6"/>
    <p:sldId id="260" r:id="rId7"/>
    <p:sldId id="265" r:id="rId8"/>
    <p:sldId id="266" r:id="rId9"/>
    <p:sldId id="267" r:id="rId10"/>
    <p:sldId id="272" r:id="rId11"/>
    <p:sldId id="273" r:id="rId12"/>
  </p:sldIdLst>
  <p:sldSz cx="12192000" cy="6858000"/>
  <p:notesSz cx="6858000" cy="9144000"/>
  <p:embeddedFontLst>
    <p:embeddedFont>
      <p:font typeface="Montserrat Black" charset="0"/>
      <p:bold r:id="rId14"/>
      <p:boldItalic r:id="rId15"/>
    </p:embeddedFont>
    <p:embeddedFont>
      <p:font typeface="Montserrat ExtraBold" charset="0"/>
      <p:bold r:id="rId16"/>
      <p:boldItalic r:id="rId17"/>
    </p:embeddedFont>
    <p:embeddedFont>
      <p:font typeface="Oswald" charset="0"/>
      <p:regular r:id="rId18"/>
      <p:bold r:id="rId19"/>
    </p:embeddedFont>
    <p:embeddedFont>
      <p:font typeface="Montserrat Medium" charset="0"/>
      <p:regular r:id="rId20"/>
      <p:bold r:id="rId21"/>
      <p:italic r:id="rId22"/>
      <p:boldItalic r:id="rId23"/>
    </p:embeddedFont>
    <p:embeddedFont>
      <p:font typeface="Calibri" pitchFamily="34" charset="0"/>
      <p:regular r:id="rId24"/>
      <p:bold r:id="rId25"/>
      <p:italic r:id="rId26"/>
      <p:boldItalic r:id="rId27"/>
    </p:embeddedFont>
    <p:embeddedFont>
      <p:font typeface="Montserrat" charset="0"/>
      <p:regular r:id="rId28"/>
      <p:bold r:id="rId29"/>
      <p:italic r:id="rId30"/>
      <p:boldItalic r:id="rId31"/>
    </p:embeddedFont>
    <p:embeddedFont>
      <p:font typeface="Trebuchet MS"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2pEbJuub4oC/u2QeLuFmvaG1i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EC230F1-99A8-4EB8-9419-A778263C896F}">
  <a:tblStyle styleId="{EEC230F1-99A8-4EB8-9419-A778263C896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4" d="100"/>
          <a:sy n="114" d="100"/>
        </p:scale>
        <p:origin x="-438"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font" Target="fonts/font21.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296347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c79584e42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15c79584e42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c79584e42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15c79584e42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5c79584e42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15c79584e42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5824957ffb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5824957ffb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g25824957ffb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5824957ffb_0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5824957ffb_0_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25824957ffb_0_6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5824957ffb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5824957ffb_0_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g25824957ffb_0_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5824957ffb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5824957ffb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g25824957ffb_0_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6"/>
        <p:cNvGrpSpPr/>
        <p:nvPr/>
      </p:nvGrpSpPr>
      <p:grpSpPr>
        <a:xfrm>
          <a:off x="0" y="0"/>
          <a:ext cx="0" cy="0"/>
          <a:chOff x="0" y="0"/>
          <a:chExt cx="0" cy="0"/>
        </a:xfrm>
      </p:grpSpPr>
      <p:pic>
        <p:nvPicPr>
          <p:cNvPr id="17" name="Google Shape;17;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18" name="Google Shape;18;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a:p>
        </p:txBody>
      </p:sp>
      <p:sp>
        <p:nvSpPr>
          <p:cNvPr id="19" name="Google Shape;19;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20" name="Google Shape;20;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21" name="Google Shape;21;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22" name="Google Shape;22;p34"/>
          <p:cNvSpPr txBox="1">
            <a:spLocks noGrp="1"/>
          </p:cNvSpPr>
          <p:nvPr>
            <p:ph type="body" idx="2"/>
          </p:nvPr>
        </p:nvSpPr>
        <p:spPr>
          <a:xfrm>
            <a:off x="1562203" y="1974293"/>
            <a:ext cx="2978527"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23" name="Google Shape;23;p34"/>
          <p:cNvPicPr preferRelativeResize="0"/>
          <p:nvPr/>
        </p:nvPicPr>
        <p:blipFill rotWithShape="1">
          <a:blip r:embed="rId4">
            <a:alphaModFix/>
          </a:blip>
          <a:srcRect/>
          <a:stretch/>
        </p:blipFill>
        <p:spPr>
          <a:xfrm>
            <a:off x="4855325" y="5268225"/>
            <a:ext cx="2040576" cy="9953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24"/>
        <p:cNvGrpSpPr/>
        <p:nvPr/>
      </p:nvGrpSpPr>
      <p:grpSpPr>
        <a:xfrm>
          <a:off x="0" y="0"/>
          <a:ext cx="0" cy="0"/>
          <a:chOff x="0" y="0"/>
          <a:chExt cx="0" cy="0"/>
        </a:xfrm>
      </p:grpSpPr>
      <p:sp>
        <p:nvSpPr>
          <p:cNvPr id="25" name="Google Shape;25;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32"/>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9" name="Google Shape;39;p32"/>
          <p:cNvPicPr preferRelativeResize="0"/>
          <p:nvPr/>
        </p:nvPicPr>
        <p:blipFill rotWithShape="1">
          <a:blip r:embed="rId2">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0"/>
        <p:cNvGrpSpPr/>
        <p:nvPr/>
      </p:nvGrpSpPr>
      <p:grpSpPr>
        <a:xfrm>
          <a:off x="0" y="0"/>
          <a:ext cx="0" cy="0"/>
          <a:chOff x="0" y="0"/>
          <a:chExt cx="0" cy="0"/>
        </a:xfrm>
      </p:grpSpPr>
      <p:sp>
        <p:nvSpPr>
          <p:cNvPr id="41" name="Google Shape;41;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2" name="Google Shape;42;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43" name="Google Shape;43;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44" name="Google Shape;44;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45" name="Google Shape;45;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7" name="Google Shape;47;p38"/>
          <p:cNvPicPr preferRelativeResize="0"/>
          <p:nvPr/>
        </p:nvPicPr>
        <p:blipFill rotWithShape="1">
          <a:blip r:embed="rId4">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8"/>
        <p:cNvGrpSpPr/>
        <p:nvPr/>
      </p:nvGrpSpPr>
      <p:grpSpPr>
        <a:xfrm>
          <a:off x="0" y="0"/>
          <a:ext cx="0" cy="0"/>
          <a:chOff x="0" y="0"/>
          <a:chExt cx="0" cy="0"/>
        </a:xfrm>
      </p:grpSpPr>
      <p:pic>
        <p:nvPicPr>
          <p:cNvPr id="49" name="Google Shape;49;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50" name="Google Shape;50;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2" name="Google Shape;52;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3" name="Google Shape;53;p30"/>
          <p:cNvPicPr preferRelativeResize="0"/>
          <p:nvPr/>
        </p:nvPicPr>
        <p:blipFill rotWithShape="1">
          <a:blip r:embed="rId4">
            <a:alphaModFix/>
          </a:blip>
          <a:srcRect/>
          <a:stretch/>
        </p:blipFill>
        <p:spPr>
          <a:xfrm>
            <a:off x="280000" y="322051"/>
            <a:ext cx="3225201" cy="15732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54"/>
        <p:cNvGrpSpPr/>
        <p:nvPr/>
      </p:nvGrpSpPr>
      <p:grpSpPr>
        <a:xfrm>
          <a:off x="0" y="0"/>
          <a:ext cx="0" cy="0"/>
          <a:chOff x="0" y="0"/>
          <a:chExt cx="0" cy="0"/>
        </a:xfrm>
      </p:grpSpPr>
      <p:sp>
        <p:nvSpPr>
          <p:cNvPr id="55" name="Google Shape;55;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6" name="Google Shape;56;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7" name="Google Shape;57;p35"/>
          <p:cNvSpPr txBox="1">
            <a:spLocks noGrp="1"/>
          </p:cNvSpPr>
          <p:nvPr>
            <p:ph type="body" idx="1"/>
          </p:nvPr>
        </p:nvSpPr>
        <p:spPr>
          <a:xfrm>
            <a:off x="1989667" y="3847550"/>
            <a:ext cx="8076353" cy="3811588"/>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59" name="Google Shape;59;p35"/>
          <p:cNvPicPr preferRelativeResize="0"/>
          <p:nvPr/>
        </p:nvPicPr>
        <p:blipFill rotWithShape="1">
          <a:blip r:embed="rId3">
            <a:alphaModFix/>
          </a:blip>
          <a:srcRect/>
          <a:stretch/>
        </p:blipFill>
        <p:spPr>
          <a:xfrm>
            <a:off x="5142013" y="5255650"/>
            <a:ext cx="2040576" cy="9953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0"/>
        <p:cNvGrpSpPr/>
        <p:nvPr/>
      </p:nvGrpSpPr>
      <p:grpSpPr>
        <a:xfrm>
          <a:off x="0" y="0"/>
          <a:ext cx="0" cy="0"/>
          <a:chOff x="0" y="0"/>
          <a:chExt cx="0" cy="0"/>
        </a:xfrm>
      </p:grpSpPr>
      <p:pic>
        <p:nvPicPr>
          <p:cNvPr id="61" name="Google Shape;61;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2" name="Google Shape;62;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3" name="Google Shape;63;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4" name="Google Shape;64;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5" name="Google Shape;65;p36"/>
          <p:cNvPicPr preferRelativeResize="0"/>
          <p:nvPr/>
        </p:nvPicPr>
        <p:blipFill rotWithShape="1">
          <a:blip r:embed="rId4">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6"/>
        <p:cNvGrpSpPr/>
        <p:nvPr/>
      </p:nvGrpSpPr>
      <p:grpSpPr>
        <a:xfrm>
          <a:off x="0" y="0"/>
          <a:ext cx="0" cy="0"/>
          <a:chOff x="0" y="0"/>
          <a:chExt cx="0" cy="0"/>
        </a:xfrm>
      </p:grpSpPr>
      <p:sp>
        <p:nvSpPr>
          <p:cNvPr id="67" name="Google Shape;67;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8" name="Google Shape;68;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9" name="Google Shape;69;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0" name="Google Shape;70;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71" name="Google Shape;71;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2" name="Google Shape;72;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73" name="Google Shape;73;p37"/>
          <p:cNvPicPr preferRelativeResize="0"/>
          <p:nvPr/>
        </p:nvPicPr>
        <p:blipFill rotWithShape="1">
          <a:blip r:embed="rId4">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74"/>
        <p:cNvGrpSpPr/>
        <p:nvPr/>
      </p:nvGrpSpPr>
      <p:grpSpPr>
        <a:xfrm>
          <a:off x="0" y="0"/>
          <a:ext cx="0" cy="0"/>
          <a:chOff x="0" y="0"/>
          <a:chExt cx="0" cy="0"/>
        </a:xfrm>
      </p:grpSpPr>
      <p:sp>
        <p:nvSpPr>
          <p:cNvPr id="75" name="Google Shape;75;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6" name="Google Shape;76;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7" name="Google Shape;77;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8" name="Google Shape;78;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79" name="Google Shape;79;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39"/>
          <p:cNvPicPr preferRelativeResize="0"/>
          <p:nvPr/>
        </p:nvPicPr>
        <p:blipFill rotWithShape="1">
          <a:blip r:embed="rId4">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81"/>
        <p:cNvGrpSpPr/>
        <p:nvPr/>
      </p:nvGrpSpPr>
      <p:grpSpPr>
        <a:xfrm>
          <a:off x="0" y="0"/>
          <a:ext cx="0" cy="0"/>
          <a:chOff x="0" y="0"/>
          <a:chExt cx="0" cy="0"/>
        </a:xfrm>
      </p:grpSpPr>
      <p:pic>
        <p:nvPicPr>
          <p:cNvPr id="82" name="Google Shape;82;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83" name="Google Shape;83;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5" name="Google Shape;85;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6" name="Google Shape;86;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7" name="Google Shape;87;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91" name="Google Shape;91;p41"/>
          <p:cNvPicPr preferRelativeResize="0"/>
          <p:nvPr/>
        </p:nvPicPr>
        <p:blipFill rotWithShape="1">
          <a:blip r:embed="rId3">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99" name="Google Shape;99;p31"/>
          <p:cNvPicPr preferRelativeResize="0"/>
          <p:nvPr/>
        </p:nvPicPr>
        <p:blipFill rotWithShape="1">
          <a:blip r:embed="rId4">
            <a:alphaModFix/>
          </a:blip>
          <a:srcRect/>
          <a:stretch/>
        </p:blipFill>
        <p:spPr>
          <a:xfrm>
            <a:off x="5210423" y="2015275"/>
            <a:ext cx="2012426" cy="9816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16" name="Google Shape;116;p33"/>
          <p:cNvPicPr preferRelativeResize="0"/>
          <p:nvPr/>
        </p:nvPicPr>
        <p:blipFill rotWithShape="1">
          <a:blip r:embed="rId3">
            <a:alphaModFix/>
          </a:blip>
          <a:srcRect/>
          <a:stretch/>
        </p:blipFill>
        <p:spPr>
          <a:xfrm>
            <a:off x="9955475" y="328227"/>
            <a:ext cx="1809802" cy="88277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23" name="Google Shape;123;p45"/>
          <p:cNvPicPr preferRelativeResize="0"/>
          <p:nvPr/>
        </p:nvPicPr>
        <p:blipFill rotWithShape="1">
          <a:blip r:embed="rId4">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35" name="Google Shape;135;p46"/>
          <p:cNvPicPr preferRelativeResize="0"/>
          <p:nvPr/>
        </p:nvPicPr>
        <p:blipFill rotWithShape="1">
          <a:blip r:embed="rId4">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43" name="Google Shape;143;p47"/>
          <p:cNvPicPr preferRelativeResize="0"/>
          <p:nvPr/>
        </p:nvPicPr>
        <p:blipFill rotWithShape="1">
          <a:blip r:embed="rId4">
            <a:alphaModFix/>
          </a:blip>
          <a:srcRect/>
          <a:stretch/>
        </p:blipFill>
        <p:spPr>
          <a:xfrm>
            <a:off x="9898625" y="326475"/>
            <a:ext cx="1856773" cy="90572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rgbClr val="C6C5C5"/>
                </a:solidFill>
                <a:latin typeface="Arial"/>
                <a:ea typeface="Arial"/>
                <a:cs typeface="Arial"/>
                <a:sym typeface="Arial"/>
              </a:rPr>
              <a:t>www.companyname.com</a:t>
            </a:r>
            <a:endParaRPr sz="1200" b="0" i="0" u="none" strike="noStrike" cap="none">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2022 By Rikkei Academy - Rikkei Education - All rights reserved.</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7675" y="2660575"/>
            <a:ext cx="8475900" cy="794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0000"/>
              </a:buClr>
              <a:buSzPts val="4000"/>
              <a:buFont typeface="Montserrat ExtraBold"/>
              <a:buNone/>
            </a:pPr>
            <a:r>
              <a:rPr lang="en-US" sz="3000"/>
              <a:t>RESTful API</a:t>
            </a:r>
            <a:endParaRPr sz="3000" i="1"/>
          </a:p>
        </p:txBody>
      </p:sp>
      <p:sp>
        <p:nvSpPr>
          <p:cNvPr id="177" name="Google Shape;177;g11bb26f517d_0_1"/>
          <p:cNvSpPr txBox="1">
            <a:spLocks noGrp="1"/>
          </p:cNvSpPr>
          <p:nvPr>
            <p:ph type="subTitle" idx="1"/>
          </p:nvPr>
        </p:nvSpPr>
        <p:spPr>
          <a:xfrm>
            <a:off x="1697669" y="4071966"/>
            <a:ext cx="5041800" cy="360000"/>
          </a:xfrm>
          <a:prstGeom prst="rect">
            <a:avLst/>
          </a:prstGeom>
          <a:noFill/>
          <a:ln>
            <a:noFill/>
          </a:ln>
        </p:spPr>
        <p:txBody>
          <a:bodyPr spcFirstLastPara="1" wrap="square" lIns="0" tIns="0" rIns="0" bIns="0" anchor="t" anchorCtr="0">
            <a:noAutofit/>
          </a:bodyPr>
          <a:lstStyle/>
          <a:p>
            <a:pPr marL="228600" lvl="0" indent="-228600" algn="l" rtl="0">
              <a:lnSpc>
                <a:spcPct val="90000"/>
              </a:lnSpc>
              <a:spcBef>
                <a:spcPts val="0"/>
              </a:spcBef>
              <a:spcAft>
                <a:spcPts val="0"/>
              </a:spcAft>
              <a:buClr>
                <a:srgbClr val="595959"/>
              </a:buClr>
              <a:buSzPts val="1800"/>
              <a:buNone/>
            </a:pPr>
            <a:r>
              <a:rPr lang="en-US" sz="1800">
                <a:solidFill>
                  <a:srgbClr val="595959"/>
                </a:solidFill>
                <a:latin typeface="Montserrat"/>
                <a:ea typeface="Montserrat"/>
                <a:cs typeface="Montserrat"/>
                <a:sym typeface="Montserrat"/>
              </a:rPr>
              <a:t>Phiên bản: 1.0</a:t>
            </a:r>
            <a:endParaRPr/>
          </a:p>
        </p:txBody>
      </p:sp>
      <p:sp>
        <p:nvSpPr>
          <p:cNvPr id="178" name="Google Shape;178;g11bb26f517d_0_1"/>
          <p:cNvSpPr txBox="1">
            <a:spLocks noGrp="1"/>
          </p:cNvSpPr>
          <p:nvPr>
            <p:ph type="body" idx="2"/>
          </p:nvPr>
        </p:nvSpPr>
        <p:spPr>
          <a:xfrm>
            <a:off x="1623275" y="2000475"/>
            <a:ext cx="8154600" cy="5541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C00000"/>
              </a:buClr>
              <a:buSzPts val="9600"/>
              <a:buNone/>
            </a:pPr>
            <a:r>
              <a:rPr lang="en-US" sz="3000"/>
              <a:t>BÀI 14:</a:t>
            </a:r>
            <a:endParaRPr sz="3000"/>
          </a:p>
        </p:txBody>
      </p:sp>
      <p:sp>
        <p:nvSpPr>
          <p:cNvPr id="179" name="Google Shape;179;g11bb26f517d_0_1"/>
          <p:cNvSpPr txBox="1"/>
          <p:nvPr/>
        </p:nvSpPr>
        <p:spPr>
          <a:xfrm>
            <a:off x="1697677" y="3664250"/>
            <a:ext cx="6364500" cy="360000"/>
          </a:xfrm>
          <a:prstGeom prst="rect">
            <a:avLst/>
          </a:prstGeom>
          <a:noFill/>
          <a:ln>
            <a:noFill/>
          </a:ln>
        </p:spPr>
        <p:txBody>
          <a:bodyPr spcFirstLastPara="1" wrap="square" lIns="0" tIns="0" rIns="0" bIns="0" anchor="t" anchorCtr="0">
            <a:noAutofit/>
          </a:bodyPr>
          <a:lstStyle/>
          <a:p>
            <a:pPr marL="228600" marR="0" lvl="0" indent="-228600" algn="l" rtl="0">
              <a:lnSpc>
                <a:spcPct val="90000"/>
              </a:lnSpc>
              <a:spcBef>
                <a:spcPts val="0"/>
              </a:spcBef>
              <a:spcAft>
                <a:spcPts val="0"/>
              </a:spcAft>
              <a:buClr>
                <a:srgbClr val="000000"/>
              </a:buClr>
              <a:buSzPts val="1800"/>
              <a:buFont typeface="Arial"/>
              <a:buNone/>
            </a:pPr>
            <a:r>
              <a:rPr lang="en-US" sz="1800" b="0" i="0" u="none" strike="noStrike" cap="none">
                <a:solidFill>
                  <a:srgbClr val="595959"/>
                </a:solidFill>
                <a:latin typeface="Montserrat"/>
                <a:ea typeface="Montserrat"/>
                <a:cs typeface="Montserrat"/>
                <a:sym typeface="Montserrat"/>
              </a:rPr>
              <a:t>Module: Web Backend Development with NodeJS</a:t>
            </a:r>
            <a:endParaRPr sz="1800" b="0" i="0" u="none" strike="noStrike" cap="none">
              <a:solidFill>
                <a:srgbClr val="595959"/>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75" y="1115400"/>
            <a:ext cx="9767400" cy="4935600"/>
          </a:xfrm>
          <a:prstGeom prst="rect">
            <a:avLst/>
          </a:prstGeom>
          <a:noFill/>
          <a:ln>
            <a:noFill/>
          </a:ln>
        </p:spPr>
        <p:txBody>
          <a:bodyPr spcFirstLastPara="1" wrap="square" lIns="91425" tIns="45700" rIns="91425" bIns="45700" anchor="t" anchorCtr="0">
            <a:normAutofit/>
          </a:bodyPr>
          <a:lstStyle/>
          <a:p>
            <a:pPr marL="457200" lvl="0" indent="-381000" algn="l" rtl="0">
              <a:lnSpc>
                <a:spcPct val="150000"/>
              </a:lnSpc>
              <a:spcBef>
                <a:spcPts val="0"/>
              </a:spcBef>
              <a:spcAft>
                <a:spcPts val="0"/>
              </a:spcAft>
              <a:buClr>
                <a:srgbClr val="333333"/>
              </a:buClr>
              <a:buSzPts val="2400"/>
              <a:buAutoNum type="arabicPeriod"/>
            </a:pPr>
            <a:r>
              <a:rPr lang="en-US" sz="2400" dirty="0" err="1">
                <a:solidFill>
                  <a:srgbClr val="333333"/>
                </a:solidFill>
              </a:rPr>
              <a:t>Kiến</a:t>
            </a:r>
            <a:r>
              <a:rPr lang="en-US" sz="2400" dirty="0">
                <a:solidFill>
                  <a:srgbClr val="333333"/>
                </a:solidFill>
              </a:rPr>
              <a:t> </a:t>
            </a:r>
            <a:r>
              <a:rPr lang="en-US" sz="2400" dirty="0" err="1">
                <a:solidFill>
                  <a:srgbClr val="333333"/>
                </a:solidFill>
              </a:rPr>
              <a:t>thức</a:t>
            </a:r>
            <a:r>
              <a:rPr lang="en-US" sz="2400" dirty="0">
                <a:solidFill>
                  <a:srgbClr val="333333"/>
                </a:solidFill>
              </a:rPr>
              <a:t> </a:t>
            </a:r>
            <a:r>
              <a:rPr lang="en-US" sz="2400" dirty="0" err="1">
                <a:solidFill>
                  <a:srgbClr val="333333"/>
                </a:solidFill>
              </a:rPr>
              <a:t>nền</a:t>
            </a:r>
            <a:r>
              <a:rPr lang="en-US" sz="2400" dirty="0">
                <a:solidFill>
                  <a:srgbClr val="333333"/>
                </a:solidFill>
              </a:rPr>
              <a:t> </a:t>
            </a:r>
            <a:r>
              <a:rPr lang="en-US" sz="2400" dirty="0" err="1">
                <a:solidFill>
                  <a:srgbClr val="333333"/>
                </a:solidFill>
              </a:rPr>
              <a:t>tảng</a:t>
            </a:r>
            <a:r>
              <a:rPr lang="en-US" sz="2400" dirty="0">
                <a:solidFill>
                  <a:srgbClr val="333333"/>
                </a:solidFill>
              </a:rPr>
              <a:t> </a:t>
            </a:r>
            <a:r>
              <a:rPr lang="en-US" sz="2400" dirty="0" err="1">
                <a:solidFill>
                  <a:srgbClr val="333333"/>
                </a:solidFill>
              </a:rPr>
              <a:t>về</a:t>
            </a:r>
            <a:r>
              <a:rPr lang="en-US" sz="2400" dirty="0">
                <a:solidFill>
                  <a:srgbClr val="333333"/>
                </a:solidFill>
              </a:rPr>
              <a:t> </a:t>
            </a:r>
            <a:r>
              <a:rPr lang="en-US" sz="2400" dirty="0" err="1">
                <a:solidFill>
                  <a:srgbClr val="333333"/>
                </a:solidFill>
              </a:rPr>
              <a:t>RESTful</a:t>
            </a:r>
            <a:r>
              <a:rPr lang="en-US" sz="2400" dirty="0">
                <a:solidFill>
                  <a:srgbClr val="333333"/>
                </a:solidFill>
              </a:rPr>
              <a:t> API</a:t>
            </a:r>
            <a:endParaRPr sz="2400" dirty="0">
              <a:solidFill>
                <a:srgbClr val="333333"/>
              </a:solidFill>
            </a:endParaRPr>
          </a:p>
          <a:p>
            <a:pPr marL="457200" lvl="0" indent="-381000" algn="l" rtl="0">
              <a:lnSpc>
                <a:spcPct val="150000"/>
              </a:lnSpc>
              <a:spcBef>
                <a:spcPts val="0"/>
              </a:spcBef>
              <a:spcAft>
                <a:spcPts val="0"/>
              </a:spcAft>
              <a:buClr>
                <a:srgbClr val="333333"/>
              </a:buClr>
              <a:buSzPts val="2400"/>
              <a:buAutoNum type="arabicPeriod"/>
            </a:pPr>
            <a:r>
              <a:rPr lang="en-US" sz="2400" dirty="0" err="1">
                <a:solidFill>
                  <a:srgbClr val="333333"/>
                </a:solidFill>
              </a:rPr>
              <a:t>Các</a:t>
            </a:r>
            <a:r>
              <a:rPr lang="en-US" sz="2400" dirty="0">
                <a:solidFill>
                  <a:srgbClr val="333333"/>
                </a:solidFill>
              </a:rPr>
              <a:t> </a:t>
            </a:r>
            <a:r>
              <a:rPr lang="en-US" sz="2400" dirty="0" err="1">
                <a:solidFill>
                  <a:srgbClr val="333333"/>
                </a:solidFill>
              </a:rPr>
              <a:t>phương</a:t>
            </a:r>
            <a:r>
              <a:rPr lang="en-US" sz="2400" dirty="0">
                <a:solidFill>
                  <a:srgbClr val="333333"/>
                </a:solidFill>
              </a:rPr>
              <a:t> </a:t>
            </a:r>
            <a:r>
              <a:rPr lang="en-US" sz="2400" dirty="0" err="1">
                <a:solidFill>
                  <a:srgbClr val="333333"/>
                </a:solidFill>
              </a:rPr>
              <a:t>thức</a:t>
            </a:r>
            <a:r>
              <a:rPr lang="en-US" sz="2400" dirty="0">
                <a:solidFill>
                  <a:srgbClr val="333333"/>
                </a:solidFill>
              </a:rPr>
              <a:t> HTTP basic </a:t>
            </a:r>
            <a:r>
              <a:rPr lang="en-US" sz="2400" dirty="0" err="1" smtClean="0">
                <a:solidFill>
                  <a:srgbClr val="333333"/>
                </a:solidFill>
              </a:rPr>
              <a:t>và</a:t>
            </a:r>
            <a:r>
              <a:rPr lang="en-US" sz="2400" dirty="0" smtClean="0">
                <a:solidFill>
                  <a:srgbClr val="333333"/>
                </a:solidFill>
              </a:rPr>
              <a:t> HTTP Preflight</a:t>
            </a:r>
            <a:endParaRPr sz="2400" dirty="0" smtClean="0">
              <a:solidFill>
                <a:srgbClr val="333333"/>
              </a:solidFill>
            </a:endParaRPr>
          </a:p>
          <a:p>
            <a:pPr marL="457200" lvl="0" indent="-381000" algn="l" rtl="0">
              <a:lnSpc>
                <a:spcPct val="150000"/>
              </a:lnSpc>
              <a:spcBef>
                <a:spcPts val="0"/>
              </a:spcBef>
              <a:spcAft>
                <a:spcPts val="0"/>
              </a:spcAft>
              <a:buClr>
                <a:srgbClr val="333333"/>
              </a:buClr>
              <a:buSzPts val="2400"/>
              <a:buAutoNum type="arabicPeriod"/>
            </a:pPr>
            <a:r>
              <a:rPr lang="en-US" sz="2400" dirty="0" err="1" smtClean="0">
                <a:solidFill>
                  <a:srgbClr val="333333"/>
                </a:solidFill>
              </a:rPr>
              <a:t>Mã</a:t>
            </a:r>
            <a:r>
              <a:rPr lang="en-US" sz="2400" dirty="0" smtClean="0">
                <a:solidFill>
                  <a:srgbClr val="333333"/>
                </a:solidFill>
              </a:rPr>
              <a:t> </a:t>
            </a:r>
            <a:r>
              <a:rPr lang="en-US" sz="2400" dirty="0" err="1" smtClean="0">
                <a:solidFill>
                  <a:srgbClr val="333333"/>
                </a:solidFill>
              </a:rPr>
              <a:t>trạng</a:t>
            </a:r>
            <a:r>
              <a:rPr lang="en-US" sz="2400" dirty="0" smtClean="0">
                <a:solidFill>
                  <a:srgbClr val="333333"/>
                </a:solidFill>
              </a:rPr>
              <a:t> </a:t>
            </a:r>
            <a:r>
              <a:rPr lang="en-US" sz="2400" dirty="0" err="1" smtClean="0">
                <a:solidFill>
                  <a:srgbClr val="333333"/>
                </a:solidFill>
              </a:rPr>
              <a:t>thái</a:t>
            </a:r>
            <a:r>
              <a:rPr lang="en-US" sz="2400" dirty="0" smtClean="0">
                <a:solidFill>
                  <a:srgbClr val="333333"/>
                </a:solidFill>
              </a:rPr>
              <a:t> HTTP code</a:t>
            </a:r>
            <a:endParaRPr sz="2400" dirty="0" smtClean="0">
              <a:solidFill>
                <a:srgbClr val="333333"/>
              </a:solidFill>
            </a:endParaRPr>
          </a:p>
          <a:p>
            <a:pPr marL="457200" lvl="0" indent="-381000" algn="l" rtl="0">
              <a:lnSpc>
                <a:spcPct val="150000"/>
              </a:lnSpc>
              <a:spcBef>
                <a:spcPts val="0"/>
              </a:spcBef>
              <a:spcAft>
                <a:spcPts val="0"/>
              </a:spcAft>
              <a:buClr>
                <a:srgbClr val="333333"/>
              </a:buClr>
              <a:buSzPts val="2400"/>
              <a:buAutoNum type="arabicPeriod"/>
            </a:pPr>
            <a:r>
              <a:rPr lang="en-US" sz="2400" dirty="0" err="1" smtClean="0">
                <a:solidFill>
                  <a:srgbClr val="333333"/>
                </a:solidFill>
              </a:rPr>
              <a:t>Xử</a:t>
            </a:r>
            <a:r>
              <a:rPr lang="en-US" sz="2400" dirty="0" smtClean="0">
                <a:solidFill>
                  <a:srgbClr val="333333"/>
                </a:solidFill>
              </a:rPr>
              <a:t> </a:t>
            </a:r>
            <a:r>
              <a:rPr lang="en-US" sz="2400" dirty="0" err="1">
                <a:solidFill>
                  <a:srgbClr val="333333"/>
                </a:solidFill>
              </a:rPr>
              <a:t>lý</a:t>
            </a:r>
            <a:r>
              <a:rPr lang="en-US" sz="2400" dirty="0">
                <a:solidFill>
                  <a:srgbClr val="333333"/>
                </a:solidFill>
              </a:rPr>
              <a:t> </a:t>
            </a:r>
            <a:r>
              <a:rPr lang="en-US" sz="2400" dirty="0" err="1">
                <a:solidFill>
                  <a:srgbClr val="333333"/>
                </a:solidFill>
              </a:rPr>
              <a:t>thông</a:t>
            </a:r>
            <a:r>
              <a:rPr lang="en-US" sz="2400" dirty="0">
                <a:solidFill>
                  <a:srgbClr val="333333"/>
                </a:solidFill>
              </a:rPr>
              <a:t> </a:t>
            </a:r>
            <a:r>
              <a:rPr lang="en-US" sz="2400" dirty="0" err="1">
                <a:solidFill>
                  <a:srgbClr val="333333"/>
                </a:solidFill>
              </a:rPr>
              <a:t>báo</a:t>
            </a:r>
            <a:r>
              <a:rPr lang="en-US" sz="2400" dirty="0">
                <a:solidFill>
                  <a:srgbClr val="333333"/>
                </a:solidFill>
              </a:rPr>
              <a:t> </a:t>
            </a:r>
            <a:endParaRPr sz="2400" dirty="0">
              <a:solidFill>
                <a:srgbClr val="333333"/>
              </a:solidFill>
            </a:endParaRPr>
          </a:p>
          <a:p>
            <a:pPr marL="457200" lvl="0" indent="-381000" algn="l" rtl="0">
              <a:lnSpc>
                <a:spcPct val="150000"/>
              </a:lnSpc>
              <a:spcBef>
                <a:spcPts val="0"/>
              </a:spcBef>
              <a:spcAft>
                <a:spcPts val="0"/>
              </a:spcAft>
              <a:buClr>
                <a:srgbClr val="333333"/>
              </a:buClr>
              <a:buSzPts val="2400"/>
              <a:buAutoNum type="arabicPeriod"/>
            </a:pPr>
            <a:r>
              <a:rPr lang="en-US" sz="2400" dirty="0" err="1">
                <a:solidFill>
                  <a:srgbClr val="333333"/>
                </a:solidFill>
              </a:rPr>
              <a:t>Triển</a:t>
            </a:r>
            <a:r>
              <a:rPr lang="en-US" sz="2400" dirty="0">
                <a:solidFill>
                  <a:srgbClr val="333333"/>
                </a:solidFill>
              </a:rPr>
              <a:t> </a:t>
            </a:r>
            <a:r>
              <a:rPr lang="en-US" sz="2400" dirty="0" err="1">
                <a:solidFill>
                  <a:srgbClr val="333333"/>
                </a:solidFill>
              </a:rPr>
              <a:t>khai</a:t>
            </a:r>
            <a:r>
              <a:rPr lang="en-US" sz="2400" dirty="0">
                <a:solidFill>
                  <a:srgbClr val="333333"/>
                </a:solidFill>
              </a:rPr>
              <a:t> Restful API </a:t>
            </a:r>
            <a:r>
              <a:rPr lang="en-US" sz="2400" dirty="0" err="1">
                <a:solidFill>
                  <a:srgbClr val="333333"/>
                </a:solidFill>
              </a:rPr>
              <a:t>sử</a:t>
            </a:r>
            <a:r>
              <a:rPr lang="en-US" sz="2400" dirty="0">
                <a:solidFill>
                  <a:srgbClr val="333333"/>
                </a:solidFill>
              </a:rPr>
              <a:t> </a:t>
            </a:r>
            <a:r>
              <a:rPr lang="en-US" sz="2400" dirty="0" err="1">
                <a:solidFill>
                  <a:srgbClr val="333333"/>
                </a:solidFill>
              </a:rPr>
              <a:t>dụng</a:t>
            </a:r>
            <a:r>
              <a:rPr lang="en-US" sz="2400" dirty="0">
                <a:solidFill>
                  <a:srgbClr val="333333"/>
                </a:solidFill>
              </a:rPr>
              <a:t> </a:t>
            </a:r>
            <a:r>
              <a:rPr lang="en-US" sz="2400" dirty="0" err="1">
                <a:solidFill>
                  <a:srgbClr val="333333"/>
                </a:solidFill>
              </a:rPr>
              <a:t>ExpressJS</a:t>
            </a:r>
            <a:r>
              <a:rPr lang="en-US" sz="2400" dirty="0">
                <a:solidFill>
                  <a:srgbClr val="333333"/>
                </a:solidFill>
              </a:rPr>
              <a:t> </a:t>
            </a:r>
            <a:endParaRPr sz="2400" dirty="0">
              <a:solidFill>
                <a:srgbClr val="333333"/>
              </a:solidFill>
            </a:endParaRP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dirty="0"/>
              <a:t> NỘI DUNG</a:t>
            </a:r>
            <a:endParaRPr dirty="0"/>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5c79584e42_0_1"/>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sz="2000" b="0"/>
              <a:t>1. Restful API là gì ?</a:t>
            </a:r>
            <a:endParaRPr sz="2000" b="0"/>
          </a:p>
        </p:txBody>
      </p:sp>
      <p:sp>
        <p:nvSpPr>
          <p:cNvPr id="192" name="Google Shape;192;g15c79584e42_0_1"/>
          <p:cNvSpPr txBox="1"/>
          <p:nvPr/>
        </p:nvSpPr>
        <p:spPr>
          <a:xfrm>
            <a:off x="948600" y="1286250"/>
            <a:ext cx="10821900" cy="49224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Montserrat"/>
              <a:buChar char="●"/>
            </a:pPr>
            <a:r>
              <a:rPr lang="en-US" sz="1800" b="1" i="0" u="none" strike="noStrike" cap="none">
                <a:solidFill>
                  <a:schemeClr val="dk1"/>
                </a:solidFill>
                <a:latin typeface="Montserrat"/>
                <a:ea typeface="Montserrat"/>
                <a:cs typeface="Montserrat"/>
                <a:sym typeface="Montserrat"/>
              </a:rPr>
              <a:t>API(Application Programming Interface) </a:t>
            </a:r>
            <a:r>
              <a:rPr lang="en-US" sz="1800" b="0" i="0" u="none" strike="noStrike" cap="none">
                <a:solidFill>
                  <a:schemeClr val="dk1"/>
                </a:solidFill>
                <a:latin typeface="Montserrat"/>
                <a:ea typeface="Montserrat"/>
                <a:cs typeface="Montserrat"/>
                <a:sym typeface="Montserrat"/>
              </a:rPr>
              <a:t>là một tập các quy tắc và cơ chế mà theo đó, một ứng dụng hay một thành phần sẽ tương tác với một ứng dụng hay một thành phần khác, nói cách khác API là một người trung gian làm nhiệm vụ kết nối các ứng dụng hoặc các công nghệ khác nhau lại với nhau</a:t>
            </a:r>
            <a:endParaRPr sz="1800" b="0" i="0" u="none" strike="noStrike" cap="none">
              <a:solidFill>
                <a:schemeClr val="dk1"/>
              </a:solidFill>
              <a:latin typeface="Montserrat"/>
              <a:ea typeface="Montserrat"/>
              <a:cs typeface="Montserrat"/>
              <a:sym typeface="Montserrat"/>
            </a:endParaRPr>
          </a:p>
          <a:p>
            <a:pPr marL="457200" marR="0" lvl="0" indent="-342900" algn="l" rtl="0">
              <a:lnSpc>
                <a:spcPct val="115000"/>
              </a:lnSpc>
              <a:spcBef>
                <a:spcPts val="0"/>
              </a:spcBef>
              <a:spcAft>
                <a:spcPts val="0"/>
              </a:spcAft>
              <a:buClr>
                <a:schemeClr val="dk1"/>
              </a:buClr>
              <a:buSzPts val="1800"/>
              <a:buFont typeface="Montserrat"/>
              <a:buChar char="●"/>
            </a:pPr>
            <a:r>
              <a:rPr lang="en-US" sz="1800" b="1" i="0" u="none" strike="noStrike" cap="none">
                <a:solidFill>
                  <a:schemeClr val="dk1"/>
                </a:solidFill>
                <a:latin typeface="Montserrat"/>
                <a:ea typeface="Montserrat"/>
                <a:cs typeface="Montserrat"/>
                <a:sym typeface="Montserrat"/>
              </a:rPr>
              <a:t>REST (Representational State Transfer) </a:t>
            </a:r>
            <a:r>
              <a:rPr lang="en-US" sz="1800" b="0" i="0" u="none" strike="noStrike" cap="none">
                <a:solidFill>
                  <a:schemeClr val="dk1"/>
                </a:solidFill>
                <a:latin typeface="Montserrat"/>
                <a:ea typeface="Montserrat"/>
                <a:cs typeface="Montserrat"/>
                <a:sym typeface="Montserrat"/>
              </a:rPr>
              <a:t>là một dạng chuyển đổi cấu trúc dữ liệu, một kiểu kiến trúc để viết API sử dụng phương thức HTTP đơn giản để tạo giao tiếp giữa các máy tính</a:t>
            </a:r>
            <a:endParaRPr sz="1800" b="0" i="0" u="none" strike="noStrike" cap="none">
              <a:solidFill>
                <a:schemeClr val="dk1"/>
              </a:solidFill>
              <a:latin typeface="Montserrat"/>
              <a:ea typeface="Montserrat"/>
              <a:cs typeface="Montserrat"/>
              <a:sym typeface="Montserrat"/>
            </a:endParaRPr>
          </a:p>
          <a:p>
            <a:pPr marL="457200" marR="0" lvl="0" indent="-342900" algn="l" rtl="0">
              <a:lnSpc>
                <a:spcPct val="115000"/>
              </a:lnSpc>
              <a:spcBef>
                <a:spcPts val="0"/>
              </a:spcBef>
              <a:spcAft>
                <a:spcPts val="0"/>
              </a:spcAft>
              <a:buClr>
                <a:schemeClr val="dk1"/>
              </a:buClr>
              <a:buSzPts val="1800"/>
              <a:buFont typeface="Montserrat"/>
              <a:buChar char="●"/>
            </a:pPr>
            <a:r>
              <a:rPr lang="en-US" sz="1800" b="1" i="0" u="none" strike="noStrike" cap="none">
                <a:solidFill>
                  <a:schemeClr val="dk1"/>
                </a:solidFill>
                <a:latin typeface="Montserrat"/>
                <a:ea typeface="Montserrat"/>
                <a:cs typeface="Montserrat"/>
                <a:sym typeface="Montserrat"/>
              </a:rPr>
              <a:t>RESTful API </a:t>
            </a:r>
            <a:r>
              <a:rPr lang="en-US" sz="1800" b="0" i="0" u="none" strike="noStrike" cap="none">
                <a:solidFill>
                  <a:schemeClr val="dk1"/>
                </a:solidFill>
                <a:latin typeface="Montserrat"/>
                <a:ea typeface="Montserrat"/>
                <a:cs typeface="Montserrat"/>
                <a:sym typeface="Montserrat"/>
              </a:rPr>
              <a:t>là một tiêu chuẩn dùng trong việc thiết kế API cho các ứng dụng web để tiện cho việc quản lý các resource. Nó chú trọng vào tài nguyên hệ thống, bao gồm các trạng thái tài nguyên được định dạng và được truyền tải qua HTTP</a:t>
            </a:r>
            <a:endParaRPr sz="1800" b="0" i="0" u="none" strike="noStrike" cap="none">
              <a:solidFill>
                <a:schemeClr val="dk1"/>
              </a:solidFill>
              <a:latin typeface="Montserrat"/>
              <a:ea typeface="Montserrat"/>
              <a:cs typeface="Montserrat"/>
              <a:sym typeface="Montserrat"/>
            </a:endParaRPr>
          </a:p>
          <a:p>
            <a:pPr marL="457200" marR="0" lvl="0" indent="-342900" algn="l" rtl="0">
              <a:lnSpc>
                <a:spcPct val="115000"/>
              </a:lnSpc>
              <a:spcBef>
                <a:spcPts val="0"/>
              </a:spcBef>
              <a:spcAft>
                <a:spcPts val="0"/>
              </a:spcAft>
              <a:buClr>
                <a:schemeClr val="dk1"/>
              </a:buClr>
              <a:buSzPts val="1800"/>
              <a:buFont typeface="Montserrat"/>
              <a:buChar char="●"/>
            </a:pPr>
            <a:r>
              <a:rPr lang="en-US" sz="1800" b="0" i="0" u="none" strike="noStrike" cap="none">
                <a:solidFill>
                  <a:schemeClr val="dk1"/>
                </a:solidFill>
                <a:latin typeface="Montserrat"/>
                <a:ea typeface="Montserrat"/>
                <a:cs typeface="Montserrat"/>
                <a:sym typeface="Montserrat"/>
              </a:rPr>
              <a:t>REST hoạt động chủ yếu dựa vào giao thức HTTP với các phương thức sau </a:t>
            </a:r>
            <a:endParaRPr sz="1800" b="0" i="0" u="none" strike="noStrike" cap="none">
              <a:solidFill>
                <a:schemeClr val="dk1"/>
              </a:solidFill>
              <a:latin typeface="Montserrat"/>
              <a:ea typeface="Montserrat"/>
              <a:cs typeface="Montserrat"/>
              <a:sym typeface="Montserrat"/>
            </a:endParaRPr>
          </a:p>
          <a:p>
            <a:pPr marL="914400" marR="0" lvl="1" indent="-342900" algn="l" rtl="0">
              <a:lnSpc>
                <a:spcPct val="115000"/>
              </a:lnSpc>
              <a:spcBef>
                <a:spcPts val="0"/>
              </a:spcBef>
              <a:spcAft>
                <a:spcPts val="0"/>
              </a:spcAft>
              <a:buClr>
                <a:schemeClr val="dk1"/>
              </a:buClr>
              <a:buSzPts val="1800"/>
              <a:buFont typeface="Montserrat"/>
              <a:buChar char="○"/>
            </a:pPr>
            <a:r>
              <a:rPr lang="en-US" sz="1800" b="1" i="0" u="none" strike="noStrike" cap="none">
                <a:solidFill>
                  <a:schemeClr val="dk1"/>
                </a:solidFill>
                <a:latin typeface="Montserrat"/>
                <a:ea typeface="Montserrat"/>
                <a:cs typeface="Montserrat"/>
                <a:sym typeface="Montserrat"/>
              </a:rPr>
              <a:t>GET</a:t>
            </a:r>
            <a:r>
              <a:rPr lang="en-US" sz="1800" b="0" i="0" u="none" strike="noStrike" cap="none">
                <a:solidFill>
                  <a:schemeClr val="dk1"/>
                </a:solidFill>
                <a:latin typeface="Montserrat"/>
                <a:ea typeface="Montserrat"/>
                <a:cs typeface="Montserrat"/>
                <a:sym typeface="Montserrat"/>
              </a:rPr>
              <a:t>: Trả về một Resource hoặc danh sách resource </a:t>
            </a:r>
            <a:endParaRPr sz="1800" b="0" i="0" u="none" strike="noStrike" cap="none">
              <a:solidFill>
                <a:schemeClr val="dk1"/>
              </a:solidFill>
              <a:latin typeface="Montserrat"/>
              <a:ea typeface="Montserrat"/>
              <a:cs typeface="Montserrat"/>
              <a:sym typeface="Montserrat"/>
            </a:endParaRPr>
          </a:p>
          <a:p>
            <a:pPr marL="914400" marR="0" lvl="1" indent="-342900" algn="l" rtl="0">
              <a:lnSpc>
                <a:spcPct val="115000"/>
              </a:lnSpc>
              <a:spcBef>
                <a:spcPts val="0"/>
              </a:spcBef>
              <a:spcAft>
                <a:spcPts val="0"/>
              </a:spcAft>
              <a:buClr>
                <a:schemeClr val="dk1"/>
              </a:buClr>
              <a:buSzPts val="1800"/>
              <a:buFont typeface="Montserrat"/>
              <a:buChar char="○"/>
            </a:pPr>
            <a:r>
              <a:rPr lang="en-US" sz="1800" b="1" i="0" u="none" strike="noStrike" cap="none">
                <a:solidFill>
                  <a:schemeClr val="dk1"/>
                </a:solidFill>
                <a:latin typeface="Montserrat"/>
                <a:ea typeface="Montserrat"/>
                <a:cs typeface="Montserrat"/>
                <a:sym typeface="Montserrat"/>
              </a:rPr>
              <a:t>POST</a:t>
            </a:r>
            <a:r>
              <a:rPr lang="en-US" sz="1800" b="0" i="0" u="none" strike="noStrike" cap="none">
                <a:solidFill>
                  <a:schemeClr val="dk1"/>
                </a:solidFill>
                <a:latin typeface="Montserrat"/>
                <a:ea typeface="Montserrat"/>
                <a:cs typeface="Montserrat"/>
                <a:sym typeface="Montserrat"/>
              </a:rPr>
              <a:t>: Tạo mới một Resource</a:t>
            </a:r>
            <a:endParaRPr sz="1800" b="0" i="0" u="none" strike="noStrike" cap="none">
              <a:solidFill>
                <a:schemeClr val="dk1"/>
              </a:solidFill>
              <a:latin typeface="Montserrat"/>
              <a:ea typeface="Montserrat"/>
              <a:cs typeface="Montserrat"/>
              <a:sym typeface="Montserrat"/>
            </a:endParaRPr>
          </a:p>
          <a:p>
            <a:pPr marL="914400" marR="0" lvl="1" indent="-342900" algn="l" rtl="0">
              <a:lnSpc>
                <a:spcPct val="115000"/>
              </a:lnSpc>
              <a:spcBef>
                <a:spcPts val="0"/>
              </a:spcBef>
              <a:spcAft>
                <a:spcPts val="0"/>
              </a:spcAft>
              <a:buClr>
                <a:schemeClr val="dk1"/>
              </a:buClr>
              <a:buSzPts val="1800"/>
              <a:buFont typeface="Montserrat"/>
              <a:buChar char="○"/>
            </a:pPr>
            <a:r>
              <a:rPr lang="en-US" sz="1800" b="1" i="0" u="none" strike="noStrike" cap="none">
                <a:solidFill>
                  <a:schemeClr val="dk1"/>
                </a:solidFill>
                <a:latin typeface="Montserrat"/>
                <a:ea typeface="Montserrat"/>
                <a:cs typeface="Montserrat"/>
                <a:sym typeface="Montserrat"/>
              </a:rPr>
              <a:t>PUT</a:t>
            </a:r>
            <a:r>
              <a:rPr lang="en-US" sz="1800" b="0" i="0" u="none" strike="noStrike" cap="none">
                <a:solidFill>
                  <a:schemeClr val="dk1"/>
                </a:solidFill>
                <a:latin typeface="Montserrat"/>
                <a:ea typeface="Montserrat"/>
                <a:cs typeface="Montserrat"/>
                <a:sym typeface="Montserrat"/>
              </a:rPr>
              <a:t>: Cập nhật thông tin cho resource</a:t>
            </a:r>
            <a:endParaRPr sz="1800" b="0" i="0" u="none" strike="noStrike" cap="none">
              <a:solidFill>
                <a:schemeClr val="dk1"/>
              </a:solidFill>
              <a:latin typeface="Montserrat"/>
              <a:ea typeface="Montserrat"/>
              <a:cs typeface="Montserrat"/>
              <a:sym typeface="Montserrat"/>
            </a:endParaRPr>
          </a:p>
          <a:p>
            <a:pPr marL="914400" marR="0" lvl="1" indent="-342900" algn="l" rtl="0">
              <a:lnSpc>
                <a:spcPct val="115000"/>
              </a:lnSpc>
              <a:spcBef>
                <a:spcPts val="0"/>
              </a:spcBef>
              <a:spcAft>
                <a:spcPts val="0"/>
              </a:spcAft>
              <a:buClr>
                <a:schemeClr val="dk1"/>
              </a:buClr>
              <a:buSzPts val="1800"/>
              <a:buFont typeface="Montserrat"/>
              <a:buChar char="○"/>
            </a:pPr>
            <a:r>
              <a:rPr lang="en-US" sz="1800" b="1" i="0" u="none" strike="noStrike" cap="none">
                <a:solidFill>
                  <a:schemeClr val="dk1"/>
                </a:solidFill>
                <a:latin typeface="Montserrat"/>
                <a:ea typeface="Montserrat"/>
                <a:cs typeface="Montserrat"/>
                <a:sym typeface="Montserrat"/>
              </a:rPr>
              <a:t>DELETE</a:t>
            </a:r>
            <a:r>
              <a:rPr lang="en-US" sz="1800" b="0" i="0" u="none" strike="noStrike" cap="none">
                <a:solidFill>
                  <a:schemeClr val="dk1"/>
                </a:solidFill>
                <a:latin typeface="Montserrat"/>
                <a:ea typeface="Montserrat"/>
                <a:cs typeface="Montserrat"/>
                <a:sym typeface="Montserrat"/>
              </a:rPr>
              <a:t>: Xóa một resource</a:t>
            </a:r>
            <a:endParaRPr sz="1800" b="0" i="0" u="none" strike="noStrike" cap="none">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5c79584e42_0_1"/>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sz="2000" b="0" dirty="0"/>
              <a:t>2</a:t>
            </a:r>
            <a:r>
              <a:rPr lang="en-US" sz="2000" b="0" dirty="0" smtClean="0"/>
              <a:t>. </a:t>
            </a:r>
            <a:r>
              <a:rPr lang="en-US" sz="2000" b="0" dirty="0" err="1" smtClean="0"/>
              <a:t>Tại</a:t>
            </a:r>
            <a:r>
              <a:rPr lang="en-US" sz="2000" b="0" dirty="0" smtClean="0"/>
              <a:t> Sao </a:t>
            </a:r>
            <a:r>
              <a:rPr lang="en-US" sz="2000" b="0" dirty="0" err="1" smtClean="0"/>
              <a:t>sử</a:t>
            </a:r>
            <a:r>
              <a:rPr lang="en-US" sz="2000" b="0" dirty="0" smtClean="0"/>
              <a:t> </a:t>
            </a:r>
            <a:r>
              <a:rPr lang="en-US" sz="2000" b="0" dirty="0" err="1" smtClean="0"/>
              <a:t>dụng</a:t>
            </a:r>
            <a:r>
              <a:rPr lang="en-US" sz="2000" b="0" dirty="0" smtClean="0"/>
              <a:t> </a:t>
            </a:r>
            <a:r>
              <a:rPr lang="en-US" sz="2000" b="0" dirty="0" err="1" smtClean="0"/>
              <a:t>RESTful</a:t>
            </a:r>
            <a:r>
              <a:rPr lang="en-US" sz="2000" b="0" dirty="0" smtClean="0"/>
              <a:t> API</a:t>
            </a:r>
            <a:endParaRPr sz="2000" b="0" dirty="0"/>
          </a:p>
        </p:txBody>
      </p:sp>
      <p:sp>
        <p:nvSpPr>
          <p:cNvPr id="192" name="Google Shape;192;g15c79584e42_0_1"/>
          <p:cNvSpPr txBox="1"/>
          <p:nvPr/>
        </p:nvSpPr>
        <p:spPr>
          <a:xfrm>
            <a:off x="948600" y="1286250"/>
            <a:ext cx="10821900" cy="241447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Montserrat"/>
              <a:buChar char="●"/>
            </a:pPr>
            <a:r>
              <a:rPr lang="en-US" sz="1800" b="1" i="0" u="none" strike="noStrike" cap="none" dirty="0" err="1" smtClean="0">
                <a:solidFill>
                  <a:schemeClr val="dk1"/>
                </a:solidFill>
                <a:latin typeface="Montserrat"/>
                <a:ea typeface="Montserrat"/>
                <a:cs typeface="Montserrat"/>
                <a:sym typeface="Montserrat"/>
              </a:rPr>
              <a:t>Dễ</a:t>
            </a:r>
            <a:r>
              <a:rPr lang="en-US" sz="1800" b="1" i="0" u="none" strike="noStrike" cap="none" dirty="0" smtClean="0">
                <a:solidFill>
                  <a:schemeClr val="dk1"/>
                </a:solidFill>
                <a:latin typeface="Montserrat"/>
                <a:ea typeface="Montserrat"/>
                <a:cs typeface="Montserrat"/>
                <a:sym typeface="Montserrat"/>
              </a:rPr>
              <a:t> </a:t>
            </a:r>
            <a:r>
              <a:rPr lang="en-US" sz="1800" b="1" i="0" u="none" strike="noStrike" cap="none" dirty="0" err="1" smtClean="0">
                <a:solidFill>
                  <a:schemeClr val="dk1"/>
                </a:solidFill>
                <a:latin typeface="Montserrat"/>
                <a:ea typeface="Montserrat"/>
                <a:cs typeface="Montserrat"/>
                <a:sym typeface="Montserrat"/>
              </a:rPr>
              <a:t>hiểu</a:t>
            </a:r>
            <a:r>
              <a:rPr lang="en-US" sz="1800" b="1" i="0" u="none" strike="noStrike" cap="none" dirty="0" smtClean="0">
                <a:solidFill>
                  <a:schemeClr val="dk1"/>
                </a:solidFill>
                <a:latin typeface="Montserrat"/>
                <a:ea typeface="Montserrat"/>
                <a:cs typeface="Montserrat"/>
                <a:sym typeface="Montserrat"/>
              </a:rPr>
              <a:t> </a:t>
            </a:r>
            <a:r>
              <a:rPr lang="en-US" sz="1800" b="1" i="0" u="none" strike="noStrike" cap="none" dirty="0" err="1" smtClean="0">
                <a:solidFill>
                  <a:schemeClr val="dk1"/>
                </a:solidFill>
                <a:latin typeface="Montserrat"/>
                <a:ea typeface="Montserrat"/>
                <a:cs typeface="Montserrat"/>
                <a:sym typeface="Montserrat"/>
              </a:rPr>
              <a:t>và</a:t>
            </a:r>
            <a:r>
              <a:rPr lang="en-US" sz="1800" b="1" i="0" u="none" strike="noStrike" cap="none" dirty="0" smtClean="0">
                <a:solidFill>
                  <a:schemeClr val="dk1"/>
                </a:solidFill>
                <a:latin typeface="Montserrat"/>
                <a:ea typeface="Montserrat"/>
                <a:cs typeface="Montserrat"/>
                <a:sym typeface="Montserrat"/>
              </a:rPr>
              <a:t> </a:t>
            </a:r>
            <a:r>
              <a:rPr lang="en-US" sz="1800" b="1" i="0" u="none" strike="noStrike" cap="none" dirty="0" err="1" smtClean="0">
                <a:solidFill>
                  <a:schemeClr val="dk1"/>
                </a:solidFill>
                <a:latin typeface="Montserrat"/>
                <a:ea typeface="Montserrat"/>
                <a:cs typeface="Montserrat"/>
                <a:sym typeface="Montserrat"/>
              </a:rPr>
              <a:t>tiêu</a:t>
            </a:r>
            <a:r>
              <a:rPr lang="en-US" sz="1800" b="1" i="0" u="none" strike="noStrike" cap="none" dirty="0" smtClean="0">
                <a:solidFill>
                  <a:schemeClr val="dk1"/>
                </a:solidFill>
                <a:latin typeface="Montserrat"/>
                <a:ea typeface="Montserrat"/>
                <a:cs typeface="Montserrat"/>
                <a:sym typeface="Montserrat"/>
              </a:rPr>
              <a:t> </a:t>
            </a:r>
            <a:r>
              <a:rPr lang="en-US" sz="1800" b="1" i="0" u="none" strike="noStrike" cap="none" dirty="0" err="1" smtClean="0">
                <a:solidFill>
                  <a:schemeClr val="dk1"/>
                </a:solidFill>
                <a:latin typeface="Montserrat"/>
                <a:ea typeface="Montserrat"/>
                <a:cs typeface="Montserrat"/>
                <a:sym typeface="Montserrat"/>
              </a:rPr>
              <a:t>chuẩn</a:t>
            </a:r>
            <a:r>
              <a:rPr lang="en-US" sz="1800" b="1" i="0" u="none" strike="noStrike" cap="none" dirty="0" smtClean="0">
                <a:solidFill>
                  <a:schemeClr val="dk1"/>
                </a:solidFill>
                <a:latin typeface="Montserrat"/>
                <a:ea typeface="Montserrat"/>
                <a:cs typeface="Montserrat"/>
                <a:sym typeface="Montserrat"/>
              </a:rPr>
              <a:t> : </a:t>
            </a:r>
            <a:r>
              <a:rPr lang="en-US" sz="1800" dirty="0" err="1" smtClean="0">
                <a:solidFill>
                  <a:schemeClr val="dk1"/>
                </a:solidFill>
                <a:latin typeface="Montserrat"/>
                <a:ea typeface="Montserrat"/>
                <a:cs typeface="Montserrat"/>
                <a:sym typeface="Montserrat"/>
              </a:rPr>
              <a:t>Sự</a:t>
            </a:r>
            <a:r>
              <a:rPr lang="en-US" sz="1800" dirty="0" smtClean="0">
                <a:solidFill>
                  <a:schemeClr val="dk1"/>
                </a:solidFill>
                <a:latin typeface="Montserrat"/>
                <a:ea typeface="Montserrat"/>
                <a:cs typeface="Montserrat"/>
                <a:sym typeface="Montserrat"/>
              </a:rPr>
              <a:t> </a:t>
            </a:r>
            <a:r>
              <a:rPr lang="en-US" sz="1800" dirty="0" err="1" smtClean="0">
                <a:solidFill>
                  <a:schemeClr val="dk1"/>
                </a:solidFill>
                <a:latin typeface="Montserrat"/>
                <a:ea typeface="Montserrat"/>
                <a:cs typeface="Montserrat"/>
                <a:sym typeface="Montserrat"/>
              </a:rPr>
              <a:t>đơn</a:t>
            </a:r>
            <a:r>
              <a:rPr lang="en-US" sz="1800" dirty="0" smtClean="0">
                <a:solidFill>
                  <a:schemeClr val="dk1"/>
                </a:solidFill>
                <a:latin typeface="Montserrat"/>
                <a:ea typeface="Montserrat"/>
                <a:cs typeface="Montserrat"/>
                <a:sym typeface="Montserrat"/>
              </a:rPr>
              <a:t> </a:t>
            </a:r>
            <a:r>
              <a:rPr lang="en-US" sz="1800" dirty="0" err="1" smtClean="0">
                <a:solidFill>
                  <a:schemeClr val="dk1"/>
                </a:solidFill>
                <a:latin typeface="Montserrat"/>
                <a:ea typeface="Montserrat"/>
                <a:cs typeface="Montserrat"/>
                <a:sym typeface="Montserrat"/>
              </a:rPr>
              <a:t>giản</a:t>
            </a:r>
            <a:r>
              <a:rPr lang="en-US" sz="1800" dirty="0" smtClean="0">
                <a:solidFill>
                  <a:schemeClr val="dk1"/>
                </a:solidFill>
                <a:latin typeface="Montserrat"/>
                <a:ea typeface="Montserrat"/>
                <a:cs typeface="Montserrat"/>
                <a:sym typeface="Montserrat"/>
              </a:rPr>
              <a:t> </a:t>
            </a:r>
            <a:r>
              <a:rPr lang="en-US" sz="1800" dirty="0" err="1" smtClean="0">
                <a:solidFill>
                  <a:schemeClr val="dk1"/>
                </a:solidFill>
                <a:latin typeface="Montserrat"/>
                <a:ea typeface="Montserrat"/>
                <a:cs typeface="Montserrat"/>
                <a:sym typeface="Montserrat"/>
              </a:rPr>
              <a:t>hóa</a:t>
            </a:r>
            <a:r>
              <a:rPr lang="en-US" sz="1800" dirty="0" smtClean="0">
                <a:solidFill>
                  <a:schemeClr val="dk1"/>
                </a:solidFill>
                <a:latin typeface="Montserrat"/>
                <a:ea typeface="Montserrat"/>
                <a:cs typeface="Montserrat"/>
                <a:sym typeface="Montserrat"/>
              </a:rPr>
              <a:t> </a:t>
            </a:r>
            <a:r>
              <a:rPr lang="en-US" sz="1800" dirty="0" err="1" smtClean="0">
                <a:solidFill>
                  <a:schemeClr val="dk1"/>
                </a:solidFill>
                <a:latin typeface="Montserrat"/>
                <a:ea typeface="Montserrat"/>
                <a:cs typeface="Montserrat"/>
                <a:sym typeface="Montserrat"/>
              </a:rPr>
              <a:t>và</a:t>
            </a:r>
            <a:r>
              <a:rPr lang="en-US" sz="1800" dirty="0" smtClean="0">
                <a:solidFill>
                  <a:schemeClr val="dk1"/>
                </a:solidFill>
                <a:latin typeface="Montserrat"/>
                <a:ea typeface="Montserrat"/>
                <a:cs typeface="Montserrat"/>
                <a:sym typeface="Montserrat"/>
              </a:rPr>
              <a:t> </a:t>
            </a:r>
            <a:r>
              <a:rPr lang="en-US" sz="1800" dirty="0" err="1" smtClean="0">
                <a:solidFill>
                  <a:schemeClr val="dk1"/>
                </a:solidFill>
                <a:latin typeface="Montserrat"/>
                <a:ea typeface="Montserrat"/>
                <a:cs typeface="Montserrat"/>
                <a:sym typeface="Montserrat"/>
              </a:rPr>
              <a:t>tiêu</a:t>
            </a:r>
            <a:r>
              <a:rPr lang="en-US" sz="1800" dirty="0" smtClean="0">
                <a:solidFill>
                  <a:schemeClr val="dk1"/>
                </a:solidFill>
                <a:latin typeface="Montserrat"/>
                <a:ea typeface="Montserrat"/>
                <a:cs typeface="Montserrat"/>
                <a:sym typeface="Montserrat"/>
              </a:rPr>
              <a:t> </a:t>
            </a:r>
            <a:r>
              <a:rPr lang="en-US" sz="1800" dirty="0" err="1" smtClean="0">
                <a:solidFill>
                  <a:schemeClr val="dk1"/>
                </a:solidFill>
                <a:latin typeface="Montserrat"/>
                <a:ea typeface="Montserrat"/>
                <a:cs typeface="Montserrat"/>
                <a:sym typeface="Montserrat"/>
              </a:rPr>
              <a:t>chuẩn</a:t>
            </a:r>
            <a:r>
              <a:rPr lang="en-US" sz="1800" dirty="0" smtClean="0">
                <a:solidFill>
                  <a:schemeClr val="dk1"/>
                </a:solidFill>
                <a:latin typeface="Montserrat"/>
                <a:ea typeface="Montserrat"/>
                <a:cs typeface="Montserrat"/>
                <a:sym typeface="Montserrat"/>
              </a:rPr>
              <a:t> </a:t>
            </a:r>
            <a:r>
              <a:rPr lang="en-US" sz="1800" dirty="0" err="1" smtClean="0">
                <a:solidFill>
                  <a:schemeClr val="dk1"/>
                </a:solidFill>
                <a:latin typeface="Montserrat"/>
                <a:ea typeface="Montserrat"/>
                <a:cs typeface="Montserrat"/>
                <a:sym typeface="Montserrat"/>
              </a:rPr>
              <a:t>hóa</a:t>
            </a:r>
            <a:r>
              <a:rPr lang="en-US" sz="1800" dirty="0" smtClean="0">
                <a:solidFill>
                  <a:schemeClr val="dk1"/>
                </a:solidFill>
                <a:latin typeface="Montserrat"/>
                <a:ea typeface="Montserrat"/>
                <a:cs typeface="Montserrat"/>
                <a:sym typeface="Montserrat"/>
              </a:rPr>
              <a:t>.</a:t>
            </a:r>
          </a:p>
          <a:p>
            <a:pPr marL="457200" marR="0" lvl="0" indent="-342900" algn="l" rtl="0">
              <a:lnSpc>
                <a:spcPct val="115000"/>
              </a:lnSpc>
              <a:spcBef>
                <a:spcPts val="0"/>
              </a:spcBef>
              <a:spcAft>
                <a:spcPts val="0"/>
              </a:spcAft>
              <a:buClr>
                <a:schemeClr val="dk1"/>
              </a:buClr>
              <a:buSzPts val="1800"/>
              <a:buFont typeface="Montserrat"/>
              <a:buChar char="●"/>
            </a:pPr>
            <a:endParaRPr lang="en-US" sz="1800" dirty="0">
              <a:solidFill>
                <a:schemeClr val="dk1"/>
              </a:solidFill>
              <a:latin typeface="Montserrat"/>
              <a:ea typeface="Montserrat"/>
              <a:cs typeface="Montserrat"/>
              <a:sym typeface="Montserrat"/>
            </a:endParaRPr>
          </a:p>
          <a:p>
            <a:pPr marL="457200" marR="0" lvl="0" indent="-342900" algn="l" rtl="0">
              <a:lnSpc>
                <a:spcPct val="115000"/>
              </a:lnSpc>
              <a:spcBef>
                <a:spcPts val="0"/>
              </a:spcBef>
              <a:spcAft>
                <a:spcPts val="0"/>
              </a:spcAft>
              <a:buClr>
                <a:schemeClr val="dk1"/>
              </a:buClr>
              <a:buSzPts val="1800"/>
              <a:buFont typeface="Montserrat"/>
              <a:buChar char="●"/>
            </a:pPr>
            <a:endParaRPr lang="en-US" sz="1800" dirty="0" smtClean="0">
              <a:solidFill>
                <a:schemeClr val="dk1"/>
              </a:solidFill>
              <a:latin typeface="Montserrat"/>
              <a:ea typeface="Montserrat"/>
              <a:cs typeface="Montserrat"/>
              <a:sym typeface="Montserrat"/>
            </a:endParaRPr>
          </a:p>
          <a:p>
            <a:pPr marL="457200" indent="-342900">
              <a:lnSpc>
                <a:spcPct val="115000"/>
              </a:lnSpc>
              <a:buClr>
                <a:schemeClr val="dk1"/>
              </a:buClr>
              <a:buSzPts val="1800"/>
              <a:buFont typeface="Montserrat"/>
              <a:buChar char="●"/>
            </a:pPr>
            <a:r>
              <a:rPr lang="en-US" sz="1800" b="1" dirty="0" err="1">
                <a:solidFill>
                  <a:schemeClr val="dk1"/>
                </a:solidFill>
                <a:latin typeface="Montserrat"/>
                <a:ea typeface="Montserrat"/>
                <a:cs typeface="Montserrat"/>
                <a:sym typeface="Montserrat"/>
              </a:rPr>
              <a:t>Khả</a:t>
            </a:r>
            <a:r>
              <a:rPr lang="en-US" sz="1800" b="1" dirty="0">
                <a:solidFill>
                  <a:schemeClr val="dk1"/>
                </a:solidFill>
                <a:latin typeface="Montserrat"/>
                <a:ea typeface="Montserrat"/>
                <a:cs typeface="Montserrat"/>
                <a:sym typeface="Montserrat"/>
              </a:rPr>
              <a:t> </a:t>
            </a:r>
            <a:r>
              <a:rPr lang="en-US" sz="1800" b="1" dirty="0" err="1">
                <a:solidFill>
                  <a:schemeClr val="dk1"/>
                </a:solidFill>
                <a:latin typeface="Montserrat"/>
                <a:ea typeface="Montserrat"/>
                <a:cs typeface="Montserrat"/>
                <a:sym typeface="Montserrat"/>
              </a:rPr>
              <a:t>năng</a:t>
            </a:r>
            <a:r>
              <a:rPr lang="en-US" sz="1800" b="1" dirty="0">
                <a:solidFill>
                  <a:schemeClr val="dk1"/>
                </a:solidFill>
                <a:latin typeface="Montserrat"/>
                <a:ea typeface="Montserrat"/>
                <a:cs typeface="Montserrat"/>
                <a:sym typeface="Montserrat"/>
              </a:rPr>
              <a:t> </a:t>
            </a:r>
            <a:r>
              <a:rPr lang="en-US" sz="1800" b="1" dirty="0" err="1">
                <a:solidFill>
                  <a:schemeClr val="dk1"/>
                </a:solidFill>
                <a:latin typeface="Montserrat"/>
                <a:ea typeface="Montserrat"/>
                <a:cs typeface="Montserrat"/>
                <a:sym typeface="Montserrat"/>
              </a:rPr>
              <a:t>mở</a:t>
            </a:r>
            <a:r>
              <a:rPr lang="en-US" sz="1800" b="1" dirty="0">
                <a:solidFill>
                  <a:schemeClr val="dk1"/>
                </a:solidFill>
                <a:latin typeface="Montserrat"/>
                <a:ea typeface="Montserrat"/>
                <a:cs typeface="Montserrat"/>
                <a:sym typeface="Montserrat"/>
              </a:rPr>
              <a:t> </a:t>
            </a:r>
            <a:r>
              <a:rPr lang="en-US" sz="1800" b="1" dirty="0" err="1">
                <a:solidFill>
                  <a:schemeClr val="dk1"/>
                </a:solidFill>
                <a:latin typeface="Montserrat"/>
                <a:ea typeface="Montserrat"/>
                <a:cs typeface="Montserrat"/>
                <a:sym typeface="Montserrat"/>
              </a:rPr>
              <a:t>rộng</a:t>
            </a:r>
            <a:r>
              <a:rPr lang="en-US" sz="1800" b="1"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Linh</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hoạt</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và</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mở</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rộng</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dễ</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dàng</a:t>
            </a:r>
            <a:r>
              <a:rPr lang="en-US" sz="1800" dirty="0" smtClean="0">
                <a:solidFill>
                  <a:schemeClr val="dk1"/>
                </a:solidFill>
                <a:latin typeface="Montserrat"/>
                <a:ea typeface="Montserrat"/>
                <a:cs typeface="Montserrat"/>
                <a:sym typeface="Montserrat"/>
              </a:rPr>
              <a:t>.</a:t>
            </a:r>
          </a:p>
          <a:p>
            <a:pPr marL="457200" indent="-342900">
              <a:lnSpc>
                <a:spcPct val="115000"/>
              </a:lnSpc>
              <a:buClr>
                <a:schemeClr val="dk1"/>
              </a:buClr>
              <a:buSzPts val="1800"/>
              <a:buFont typeface="Montserrat"/>
              <a:buChar char="●"/>
            </a:pPr>
            <a:endParaRPr lang="en-US" sz="1800" dirty="0">
              <a:solidFill>
                <a:schemeClr val="dk1"/>
              </a:solidFill>
              <a:latin typeface="Montserrat"/>
              <a:ea typeface="Montserrat"/>
              <a:cs typeface="Montserrat"/>
              <a:sym typeface="Montserrat"/>
            </a:endParaRPr>
          </a:p>
          <a:p>
            <a:pPr marL="457200" indent="-342900">
              <a:lnSpc>
                <a:spcPct val="115000"/>
              </a:lnSpc>
              <a:buClr>
                <a:schemeClr val="dk1"/>
              </a:buClr>
              <a:buSzPts val="1800"/>
              <a:buFont typeface="Montserrat"/>
              <a:buChar char="●"/>
            </a:pPr>
            <a:endParaRPr lang="en-US" sz="1800" dirty="0">
              <a:solidFill>
                <a:schemeClr val="dk1"/>
              </a:solidFill>
              <a:latin typeface="Montserrat"/>
              <a:ea typeface="Montserrat"/>
              <a:cs typeface="Montserrat"/>
              <a:sym typeface="Montserrat"/>
            </a:endParaRPr>
          </a:p>
          <a:p>
            <a:pPr marL="457200" indent="-342900">
              <a:lnSpc>
                <a:spcPct val="115000"/>
              </a:lnSpc>
              <a:buClr>
                <a:schemeClr val="dk1"/>
              </a:buClr>
              <a:buSzPts val="1800"/>
              <a:buFont typeface="Montserrat"/>
              <a:buChar char="●"/>
            </a:pPr>
            <a:r>
              <a:rPr lang="en-US" sz="1800" b="1" dirty="0" err="1">
                <a:solidFill>
                  <a:schemeClr val="dk1"/>
                </a:solidFill>
                <a:latin typeface="Montserrat"/>
                <a:ea typeface="Montserrat"/>
                <a:cs typeface="Montserrat"/>
                <a:sym typeface="Montserrat"/>
              </a:rPr>
              <a:t>Tích</a:t>
            </a:r>
            <a:r>
              <a:rPr lang="en-US" sz="1800" b="1" dirty="0">
                <a:solidFill>
                  <a:schemeClr val="dk1"/>
                </a:solidFill>
                <a:latin typeface="Montserrat"/>
                <a:ea typeface="Montserrat"/>
                <a:cs typeface="Montserrat"/>
                <a:sym typeface="Montserrat"/>
              </a:rPr>
              <a:t> </a:t>
            </a:r>
            <a:r>
              <a:rPr lang="en-US" sz="1800" b="1" dirty="0" err="1">
                <a:solidFill>
                  <a:schemeClr val="dk1"/>
                </a:solidFill>
                <a:latin typeface="Montserrat"/>
                <a:ea typeface="Montserrat"/>
                <a:cs typeface="Montserrat"/>
                <a:sym typeface="Montserrat"/>
              </a:rPr>
              <a:t>hợp</a:t>
            </a:r>
            <a:r>
              <a:rPr lang="en-US" sz="1800" b="1" dirty="0">
                <a:solidFill>
                  <a:schemeClr val="dk1"/>
                </a:solidFill>
                <a:latin typeface="Montserrat"/>
                <a:ea typeface="Montserrat"/>
                <a:cs typeface="Montserrat"/>
                <a:sym typeface="Montserrat"/>
              </a:rPr>
              <a:t> </a:t>
            </a:r>
            <a:r>
              <a:rPr lang="en-US" sz="1800" b="1" dirty="0" err="1">
                <a:solidFill>
                  <a:schemeClr val="dk1"/>
                </a:solidFill>
                <a:latin typeface="Montserrat"/>
                <a:ea typeface="Montserrat"/>
                <a:cs typeface="Montserrat"/>
                <a:sym typeface="Montserrat"/>
              </a:rPr>
              <a:t>dễ</a:t>
            </a:r>
            <a:r>
              <a:rPr lang="en-US" sz="1800" b="1" dirty="0">
                <a:solidFill>
                  <a:schemeClr val="dk1"/>
                </a:solidFill>
                <a:latin typeface="Montserrat"/>
                <a:ea typeface="Montserrat"/>
                <a:cs typeface="Montserrat"/>
                <a:sym typeface="Montserrat"/>
              </a:rPr>
              <a:t> </a:t>
            </a:r>
            <a:r>
              <a:rPr lang="en-US" sz="1800" b="1" dirty="0" err="1">
                <a:solidFill>
                  <a:schemeClr val="dk1"/>
                </a:solidFill>
                <a:latin typeface="Montserrat"/>
                <a:ea typeface="Montserrat"/>
                <a:cs typeface="Montserrat"/>
                <a:sym typeface="Montserrat"/>
              </a:rPr>
              <a:t>dàng</a:t>
            </a:r>
            <a:r>
              <a:rPr lang="en-US" sz="1800" b="1"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Sử</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dụng</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các</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tiêu</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chuẩn</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và</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giao</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thức</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phổ</a:t>
            </a:r>
            <a:r>
              <a:rPr lang="en-US" sz="1800" dirty="0">
                <a:solidFill>
                  <a:schemeClr val="dk1"/>
                </a:solidFill>
                <a:latin typeface="Montserrat"/>
                <a:ea typeface="Montserrat"/>
                <a:cs typeface="Montserrat"/>
                <a:sym typeface="Montserrat"/>
              </a:rPr>
              <a:t> </a:t>
            </a:r>
            <a:r>
              <a:rPr lang="en-US" sz="1800" dirty="0" err="1">
                <a:solidFill>
                  <a:schemeClr val="dk1"/>
                </a:solidFill>
                <a:latin typeface="Montserrat"/>
                <a:ea typeface="Montserrat"/>
                <a:cs typeface="Montserrat"/>
                <a:sym typeface="Montserrat"/>
              </a:rPr>
              <a:t>biến</a:t>
            </a:r>
            <a:r>
              <a:rPr lang="en-US" sz="1800" dirty="0" smtClean="0">
                <a:solidFill>
                  <a:schemeClr val="dk1"/>
                </a:solidFill>
                <a:latin typeface="Montserrat"/>
                <a:ea typeface="Montserrat"/>
                <a:cs typeface="Montserrat"/>
                <a:sym typeface="Montserrat"/>
              </a:rPr>
              <a:t>.</a:t>
            </a:r>
            <a:endParaRPr lang="en-US" sz="1800" dirty="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1147383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5c79584e42_0_1"/>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sz="2000" b="0" dirty="0"/>
              <a:t>3</a:t>
            </a:r>
            <a:r>
              <a:rPr lang="en-US" sz="2000" b="0" dirty="0" smtClean="0"/>
              <a:t>. Status Code </a:t>
            </a:r>
            <a:r>
              <a:rPr lang="en-US" sz="2000" b="0" dirty="0" err="1" smtClean="0"/>
              <a:t>trong</a:t>
            </a:r>
            <a:r>
              <a:rPr lang="en-US" sz="2000" b="0" dirty="0" smtClean="0"/>
              <a:t> REST API</a:t>
            </a:r>
            <a:endParaRPr sz="2000" b="0" dirty="0"/>
          </a:p>
        </p:txBody>
      </p:sp>
      <p:sp>
        <p:nvSpPr>
          <p:cNvPr id="192" name="Google Shape;192;g15c79584e42_0_1"/>
          <p:cNvSpPr txBox="1"/>
          <p:nvPr/>
        </p:nvSpPr>
        <p:spPr>
          <a:xfrm>
            <a:off x="762000" y="1284852"/>
            <a:ext cx="10821900" cy="4644318"/>
          </a:xfrm>
          <a:prstGeom prst="rect">
            <a:avLst/>
          </a:prstGeom>
          <a:noFill/>
          <a:ln>
            <a:noFill/>
          </a:ln>
        </p:spPr>
        <p:txBody>
          <a:bodyPr spcFirstLastPara="1" wrap="square" lIns="91425" tIns="91425" rIns="91425" bIns="91425" anchor="t" anchorCtr="0">
            <a:spAutoFit/>
          </a:bodyPr>
          <a:lstStyle/>
          <a:p>
            <a:pPr marL="457200" lvl="0" indent="-342900">
              <a:lnSpc>
                <a:spcPct val="115000"/>
              </a:lnSpc>
              <a:buClr>
                <a:schemeClr val="dk1"/>
              </a:buClr>
              <a:buSzPts val="1800"/>
              <a:buFont typeface="Montserrat"/>
              <a:buChar char="●"/>
            </a:pPr>
            <a:r>
              <a:rPr lang="vi-VN" sz="1800" b="1" dirty="0" smtClean="0">
                <a:solidFill>
                  <a:schemeClr val="dk1"/>
                </a:solidFill>
                <a:latin typeface="Montserrat"/>
                <a:ea typeface="Montserrat"/>
                <a:cs typeface="Montserrat"/>
                <a:sym typeface="Montserrat"/>
              </a:rPr>
              <a:t>200 </a:t>
            </a:r>
            <a:r>
              <a:rPr lang="vi-VN" sz="1800" b="1" dirty="0">
                <a:solidFill>
                  <a:schemeClr val="dk1"/>
                </a:solidFill>
                <a:latin typeface="Montserrat"/>
                <a:ea typeface="Montserrat"/>
                <a:cs typeface="Montserrat"/>
                <a:sym typeface="Montserrat"/>
              </a:rPr>
              <a:t>OK: </a:t>
            </a:r>
            <a:r>
              <a:rPr lang="vi-VN" sz="1800" dirty="0">
                <a:solidFill>
                  <a:schemeClr val="dk1"/>
                </a:solidFill>
                <a:latin typeface="Montserrat"/>
                <a:ea typeface="Montserrat"/>
                <a:cs typeface="Montserrat"/>
                <a:sym typeface="Montserrat"/>
              </a:rPr>
              <a:t>Mọi thứ đã diễn ra đúng như mong đợi</a:t>
            </a:r>
            <a:r>
              <a:rPr lang="vi-VN" sz="1800" dirty="0" smtClean="0">
                <a:solidFill>
                  <a:schemeClr val="dk1"/>
                </a:solidFill>
                <a:latin typeface="Montserrat"/>
                <a:ea typeface="Montserrat"/>
                <a:cs typeface="Montserrat"/>
                <a:sym typeface="Montserrat"/>
              </a:rPr>
              <a:t>.</a:t>
            </a:r>
            <a:endParaRPr lang="en-US" sz="1800" dirty="0" smtClean="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endParaRPr lang="vi-VN" sz="1800" dirty="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r>
              <a:rPr lang="vi-VN" sz="1800" b="1" dirty="0">
                <a:solidFill>
                  <a:schemeClr val="dk1"/>
                </a:solidFill>
                <a:latin typeface="Montserrat"/>
                <a:ea typeface="Montserrat"/>
                <a:cs typeface="Montserrat"/>
                <a:sym typeface="Montserrat"/>
              </a:rPr>
              <a:t>201 Created: </a:t>
            </a:r>
            <a:r>
              <a:rPr lang="vi-VN" sz="1800" dirty="0">
                <a:solidFill>
                  <a:schemeClr val="dk1"/>
                </a:solidFill>
                <a:latin typeface="Montserrat"/>
                <a:ea typeface="Montserrat"/>
                <a:cs typeface="Montserrat"/>
                <a:sym typeface="Montserrat"/>
              </a:rPr>
              <a:t>Người dùng đã được tạo thành công</a:t>
            </a:r>
            <a:r>
              <a:rPr lang="vi-VN" sz="1800" dirty="0" smtClean="0">
                <a:solidFill>
                  <a:schemeClr val="dk1"/>
                </a:solidFill>
                <a:latin typeface="Montserrat"/>
                <a:ea typeface="Montserrat"/>
                <a:cs typeface="Montserrat"/>
                <a:sym typeface="Montserrat"/>
              </a:rPr>
              <a:t>.</a:t>
            </a:r>
            <a:endParaRPr lang="en-US" sz="1800" dirty="0" smtClean="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endParaRPr lang="vi-VN" sz="1800" dirty="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r>
              <a:rPr lang="vi-VN" sz="1800" b="1" dirty="0">
                <a:solidFill>
                  <a:schemeClr val="dk1"/>
                </a:solidFill>
                <a:latin typeface="Montserrat"/>
                <a:ea typeface="Montserrat"/>
                <a:cs typeface="Montserrat"/>
                <a:sym typeface="Montserrat"/>
              </a:rPr>
              <a:t>204 No Content: </a:t>
            </a:r>
            <a:r>
              <a:rPr lang="vi-VN" sz="1800" dirty="0">
                <a:solidFill>
                  <a:schemeClr val="dk1"/>
                </a:solidFill>
                <a:latin typeface="Montserrat"/>
                <a:ea typeface="Montserrat"/>
                <a:cs typeface="Montserrat"/>
                <a:sym typeface="Montserrat"/>
              </a:rPr>
              <a:t>Yêu cầu đã được xử lý thành công, nhưng không có dữ liệu để trả về</a:t>
            </a:r>
            <a:r>
              <a:rPr lang="vi-VN" sz="1800" dirty="0" smtClean="0">
                <a:solidFill>
                  <a:schemeClr val="dk1"/>
                </a:solidFill>
                <a:latin typeface="Montserrat"/>
                <a:ea typeface="Montserrat"/>
                <a:cs typeface="Montserrat"/>
                <a:sym typeface="Montserrat"/>
              </a:rPr>
              <a:t>.</a:t>
            </a:r>
            <a:endParaRPr lang="en-US" sz="1800" dirty="0" smtClean="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endParaRPr lang="vi-VN" sz="1800" dirty="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r>
              <a:rPr lang="vi-VN" sz="1800" b="1" dirty="0">
                <a:solidFill>
                  <a:schemeClr val="dk1"/>
                </a:solidFill>
                <a:latin typeface="Montserrat"/>
                <a:ea typeface="Montserrat"/>
                <a:cs typeface="Montserrat"/>
                <a:sym typeface="Montserrat"/>
              </a:rPr>
              <a:t>400 Bad Request: </a:t>
            </a:r>
            <a:r>
              <a:rPr lang="vi-VN" sz="1800" dirty="0">
                <a:solidFill>
                  <a:schemeClr val="dk1"/>
                </a:solidFill>
                <a:latin typeface="Montserrat"/>
                <a:ea typeface="Montserrat"/>
                <a:cs typeface="Montserrat"/>
                <a:sym typeface="Montserrat"/>
              </a:rPr>
              <a:t>Yêu cầu không hợp lệ từ phía client</a:t>
            </a:r>
            <a:r>
              <a:rPr lang="vi-VN" sz="1800" dirty="0" smtClean="0">
                <a:solidFill>
                  <a:schemeClr val="dk1"/>
                </a:solidFill>
                <a:latin typeface="Montserrat"/>
                <a:ea typeface="Montserrat"/>
                <a:cs typeface="Montserrat"/>
                <a:sym typeface="Montserrat"/>
              </a:rPr>
              <a:t>.</a:t>
            </a:r>
            <a:endParaRPr lang="en-US" sz="1800" dirty="0" smtClean="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endParaRPr lang="vi-VN" sz="1800" dirty="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r>
              <a:rPr lang="vi-VN" sz="1800" b="1" dirty="0">
                <a:solidFill>
                  <a:schemeClr val="dk1"/>
                </a:solidFill>
                <a:latin typeface="Montserrat"/>
                <a:ea typeface="Montserrat"/>
                <a:cs typeface="Montserrat"/>
                <a:sym typeface="Montserrat"/>
              </a:rPr>
              <a:t>401 Unauthorized: </a:t>
            </a:r>
            <a:r>
              <a:rPr lang="vi-VN" sz="1800" dirty="0">
                <a:solidFill>
                  <a:schemeClr val="dk1"/>
                </a:solidFill>
                <a:latin typeface="Montserrat"/>
                <a:ea typeface="Montserrat"/>
                <a:cs typeface="Montserrat"/>
                <a:sym typeface="Montserrat"/>
              </a:rPr>
              <a:t>Không có quyền truy cập hoặc không có thông tin đăng nhập</a:t>
            </a:r>
            <a:r>
              <a:rPr lang="vi-VN" sz="1800" dirty="0" smtClean="0">
                <a:solidFill>
                  <a:schemeClr val="dk1"/>
                </a:solidFill>
                <a:latin typeface="Montserrat"/>
                <a:ea typeface="Montserrat"/>
                <a:cs typeface="Montserrat"/>
                <a:sym typeface="Montserrat"/>
              </a:rPr>
              <a:t>.</a:t>
            </a:r>
            <a:endParaRPr lang="en-US" sz="1800" dirty="0" smtClean="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endParaRPr lang="vi-VN" sz="1800" dirty="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r>
              <a:rPr lang="vi-VN" sz="1800" b="1" dirty="0">
                <a:solidFill>
                  <a:schemeClr val="dk1"/>
                </a:solidFill>
                <a:latin typeface="Montserrat"/>
                <a:ea typeface="Montserrat"/>
                <a:cs typeface="Montserrat"/>
                <a:sym typeface="Montserrat"/>
              </a:rPr>
              <a:t>404 Not Found: </a:t>
            </a:r>
            <a:r>
              <a:rPr lang="vi-VN" sz="1800" dirty="0">
                <a:solidFill>
                  <a:schemeClr val="dk1"/>
                </a:solidFill>
                <a:latin typeface="Montserrat"/>
                <a:ea typeface="Montserrat"/>
                <a:cs typeface="Montserrat"/>
                <a:sym typeface="Montserrat"/>
              </a:rPr>
              <a:t>Không tìm thấy tài nguyên được yêu cầu</a:t>
            </a:r>
            <a:r>
              <a:rPr lang="vi-VN" sz="1800" dirty="0" smtClean="0">
                <a:solidFill>
                  <a:schemeClr val="dk1"/>
                </a:solidFill>
                <a:latin typeface="Montserrat"/>
                <a:ea typeface="Montserrat"/>
                <a:cs typeface="Montserrat"/>
                <a:sym typeface="Montserrat"/>
              </a:rPr>
              <a:t>.</a:t>
            </a:r>
            <a:endParaRPr lang="en-US" sz="1800" dirty="0" smtClean="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endParaRPr lang="vi-VN" sz="1800" dirty="0">
              <a:solidFill>
                <a:schemeClr val="dk1"/>
              </a:solidFill>
              <a:latin typeface="Montserrat"/>
              <a:ea typeface="Montserrat"/>
              <a:cs typeface="Montserrat"/>
              <a:sym typeface="Montserrat"/>
            </a:endParaRPr>
          </a:p>
          <a:p>
            <a:pPr marL="457200" lvl="0" indent="-342900">
              <a:lnSpc>
                <a:spcPct val="115000"/>
              </a:lnSpc>
              <a:buClr>
                <a:schemeClr val="dk1"/>
              </a:buClr>
              <a:buSzPts val="1800"/>
              <a:buFont typeface="Montserrat"/>
              <a:buChar char="●"/>
            </a:pPr>
            <a:r>
              <a:rPr lang="vi-VN" sz="1800" b="1" dirty="0">
                <a:solidFill>
                  <a:schemeClr val="dk1"/>
                </a:solidFill>
                <a:latin typeface="Montserrat"/>
                <a:ea typeface="Montserrat"/>
                <a:cs typeface="Montserrat"/>
                <a:sym typeface="Montserrat"/>
              </a:rPr>
              <a:t>500 Internal Server Error: </a:t>
            </a:r>
            <a:r>
              <a:rPr lang="vi-VN" sz="1800" dirty="0">
                <a:solidFill>
                  <a:schemeClr val="dk1"/>
                </a:solidFill>
                <a:latin typeface="Montserrat"/>
                <a:ea typeface="Montserrat"/>
                <a:cs typeface="Montserrat"/>
                <a:sym typeface="Montserrat"/>
              </a:rPr>
              <a:t>Lỗi phía server, không nên xuất hiện trong ứng dụng sản phẩm.</a:t>
            </a:r>
            <a:endParaRPr lang="en-US" sz="1800" dirty="0" smtClean="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3737376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25824957ffb_0_19"/>
          <p:cNvSpPr txBox="1">
            <a:spLocks noGrp="1"/>
          </p:cNvSpPr>
          <p:nvPr>
            <p:ph type="body" idx="1"/>
          </p:nvPr>
        </p:nvSpPr>
        <p:spPr>
          <a:xfrm>
            <a:off x="677850" y="1309975"/>
            <a:ext cx="10561500" cy="4688100"/>
          </a:xfrm>
          <a:prstGeom prst="rect">
            <a:avLst/>
          </a:prstGeom>
        </p:spPr>
        <p:txBody>
          <a:bodyPr spcFirstLastPara="1" wrap="square" lIns="91425" tIns="45700" rIns="91425" bIns="45700" anchor="t" anchorCtr="0">
            <a:normAutofit/>
          </a:bodyPr>
          <a:lstStyle/>
          <a:p>
            <a:pPr marL="457200" lvl="0" indent="-355600" algn="l" rtl="0">
              <a:spcBef>
                <a:spcPts val="1000"/>
              </a:spcBef>
              <a:spcAft>
                <a:spcPts val="0"/>
              </a:spcAft>
              <a:buClr>
                <a:srgbClr val="073763"/>
              </a:buClr>
              <a:buSzPts val="2000"/>
              <a:buAutoNum type="arabicPeriod"/>
            </a:pPr>
            <a:r>
              <a:rPr lang="en-US" sz="2000" b="1" dirty="0" err="1">
                <a:solidFill>
                  <a:srgbClr val="073763"/>
                </a:solidFill>
              </a:rPr>
              <a:t>Làm</a:t>
            </a:r>
            <a:r>
              <a:rPr lang="en-US" sz="2000" b="1" dirty="0">
                <a:solidFill>
                  <a:srgbClr val="073763"/>
                </a:solidFill>
              </a:rPr>
              <a:t> </a:t>
            </a:r>
            <a:r>
              <a:rPr lang="en-US" sz="2000" b="1" dirty="0" err="1">
                <a:solidFill>
                  <a:srgbClr val="073763"/>
                </a:solidFill>
              </a:rPr>
              <a:t>mọi</a:t>
            </a:r>
            <a:r>
              <a:rPr lang="en-US" sz="2000" b="1" dirty="0">
                <a:solidFill>
                  <a:srgbClr val="073763"/>
                </a:solidFill>
              </a:rPr>
              <a:t> </a:t>
            </a:r>
            <a:r>
              <a:rPr lang="en-US" sz="2000" b="1" dirty="0" err="1">
                <a:solidFill>
                  <a:srgbClr val="073763"/>
                </a:solidFill>
              </a:rPr>
              <a:t>thứ</a:t>
            </a:r>
            <a:r>
              <a:rPr lang="en-US" sz="2000" b="1" dirty="0">
                <a:solidFill>
                  <a:srgbClr val="073763"/>
                </a:solidFill>
              </a:rPr>
              <a:t> </a:t>
            </a:r>
            <a:r>
              <a:rPr lang="en-US" sz="2000" b="1" dirty="0" err="1">
                <a:solidFill>
                  <a:srgbClr val="073763"/>
                </a:solidFill>
              </a:rPr>
              <a:t>thật</a:t>
            </a:r>
            <a:r>
              <a:rPr lang="en-US" sz="2000" b="1" dirty="0">
                <a:solidFill>
                  <a:srgbClr val="073763"/>
                </a:solidFill>
              </a:rPr>
              <a:t> </a:t>
            </a:r>
            <a:r>
              <a:rPr lang="en-US" sz="2000" b="1" dirty="0" err="1">
                <a:solidFill>
                  <a:srgbClr val="073763"/>
                </a:solidFill>
              </a:rPr>
              <a:t>đơn</a:t>
            </a:r>
            <a:r>
              <a:rPr lang="en-US" sz="2000" b="1" dirty="0">
                <a:solidFill>
                  <a:srgbClr val="073763"/>
                </a:solidFill>
              </a:rPr>
              <a:t> </a:t>
            </a:r>
            <a:r>
              <a:rPr lang="en-US" sz="2000" b="1" dirty="0" err="1">
                <a:solidFill>
                  <a:srgbClr val="073763"/>
                </a:solidFill>
              </a:rPr>
              <a:t>giản</a:t>
            </a:r>
            <a:r>
              <a:rPr lang="en-US" sz="2000" b="1" dirty="0">
                <a:solidFill>
                  <a:srgbClr val="073763"/>
                </a:solidFill>
              </a:rPr>
              <a:t> - KISS (Keep It Simple Stupid)</a:t>
            </a:r>
            <a:endParaRPr sz="2000" b="1" dirty="0">
              <a:solidFill>
                <a:srgbClr val="073763"/>
              </a:solidFill>
            </a:endParaRPr>
          </a:p>
          <a:p>
            <a:pPr marL="457200" lvl="0" indent="0" algn="l" rtl="0">
              <a:spcBef>
                <a:spcPts val="1000"/>
              </a:spcBef>
              <a:spcAft>
                <a:spcPts val="0"/>
              </a:spcAft>
              <a:buNone/>
            </a:pPr>
            <a:r>
              <a:rPr lang="en-US" sz="2000" dirty="0" err="1"/>
              <a:t>Cần</a:t>
            </a:r>
            <a:r>
              <a:rPr lang="en-US" sz="2000" dirty="0"/>
              <a:t> </a:t>
            </a:r>
            <a:r>
              <a:rPr lang="en-US" sz="2000" dirty="0" err="1"/>
              <a:t>đảm</a:t>
            </a:r>
            <a:r>
              <a:rPr lang="en-US" sz="2000" dirty="0"/>
              <a:t> </a:t>
            </a:r>
            <a:r>
              <a:rPr lang="en-US" sz="2000" dirty="0" err="1"/>
              <a:t>bảo</a:t>
            </a:r>
            <a:r>
              <a:rPr lang="en-US" sz="2000" dirty="0"/>
              <a:t> </a:t>
            </a:r>
            <a:r>
              <a:rPr lang="en-US" sz="2000" dirty="0" err="1"/>
              <a:t>rẳng</a:t>
            </a:r>
            <a:r>
              <a:rPr lang="en-US" sz="2000" dirty="0"/>
              <a:t> base URL </a:t>
            </a:r>
            <a:r>
              <a:rPr lang="en-US" sz="2000" dirty="0" err="1"/>
              <a:t>cho</a:t>
            </a:r>
            <a:r>
              <a:rPr lang="en-US" sz="2000" dirty="0"/>
              <a:t> </a:t>
            </a:r>
            <a:r>
              <a:rPr lang="en-US" sz="2000" dirty="0" err="1"/>
              <a:t>một</a:t>
            </a:r>
            <a:r>
              <a:rPr lang="en-US" sz="2000" dirty="0"/>
              <a:t> API </a:t>
            </a:r>
            <a:r>
              <a:rPr lang="en-US" sz="2000" dirty="0" err="1"/>
              <a:t>thật</a:t>
            </a:r>
            <a:r>
              <a:rPr lang="en-US" sz="2000" dirty="0"/>
              <a:t> </a:t>
            </a:r>
            <a:r>
              <a:rPr lang="en-US" sz="2000" dirty="0" err="1"/>
              <a:t>đơn</a:t>
            </a:r>
            <a:r>
              <a:rPr lang="en-US" sz="2000" dirty="0"/>
              <a:t> </a:t>
            </a:r>
            <a:r>
              <a:rPr lang="en-US" sz="2000" dirty="0" err="1"/>
              <a:t>giản</a:t>
            </a:r>
            <a:r>
              <a:rPr lang="en-US" sz="2000" dirty="0"/>
              <a:t>.</a:t>
            </a:r>
            <a:endParaRPr sz="2000" dirty="0"/>
          </a:p>
          <a:p>
            <a:pPr marL="457200" lvl="0" indent="0" algn="l" rtl="0">
              <a:spcBef>
                <a:spcPts val="1000"/>
              </a:spcBef>
              <a:spcAft>
                <a:spcPts val="0"/>
              </a:spcAft>
              <a:buNone/>
            </a:pPr>
            <a:r>
              <a:rPr lang="en-US" sz="2000" dirty="0" err="1"/>
              <a:t>Mỗi</a:t>
            </a:r>
            <a:r>
              <a:rPr lang="en-US" sz="2000" dirty="0"/>
              <a:t> </a:t>
            </a:r>
            <a:r>
              <a:rPr lang="en-US" sz="2000" dirty="0" err="1"/>
              <a:t>tài</a:t>
            </a:r>
            <a:r>
              <a:rPr lang="en-US" sz="2000" dirty="0"/>
              <a:t> </a:t>
            </a:r>
            <a:r>
              <a:rPr lang="en-US" sz="2000" dirty="0" err="1"/>
              <a:t>nguyên</a:t>
            </a:r>
            <a:r>
              <a:rPr lang="en-US" sz="2000" dirty="0"/>
              <a:t> </a:t>
            </a:r>
            <a:r>
              <a:rPr lang="en-US" sz="2000" dirty="0" err="1"/>
              <a:t>trong</a:t>
            </a:r>
            <a:r>
              <a:rPr lang="en-US" sz="2000" dirty="0"/>
              <a:t> </a:t>
            </a:r>
            <a:r>
              <a:rPr lang="en-US" sz="2000" dirty="0" err="1"/>
              <a:t>hệ</a:t>
            </a:r>
            <a:r>
              <a:rPr lang="en-US" sz="2000" dirty="0"/>
              <a:t> </a:t>
            </a:r>
            <a:r>
              <a:rPr lang="en-US" sz="2000" dirty="0" err="1"/>
              <a:t>thống</a:t>
            </a:r>
            <a:r>
              <a:rPr lang="en-US" sz="2000" dirty="0"/>
              <a:t> </a:t>
            </a:r>
            <a:r>
              <a:rPr lang="en-US" sz="2000" dirty="0" err="1"/>
              <a:t>chỉ</a:t>
            </a:r>
            <a:r>
              <a:rPr lang="en-US" sz="2000" dirty="0"/>
              <a:t> </a:t>
            </a:r>
            <a:r>
              <a:rPr lang="en-US" sz="2000" dirty="0" err="1"/>
              <a:t>nên</a:t>
            </a:r>
            <a:r>
              <a:rPr lang="en-US" sz="2000" dirty="0"/>
              <a:t> </a:t>
            </a:r>
            <a:r>
              <a:rPr lang="en-US" sz="2000" dirty="0" err="1"/>
              <a:t>có</a:t>
            </a:r>
            <a:r>
              <a:rPr lang="en-US" sz="2000" dirty="0"/>
              <a:t> </a:t>
            </a:r>
            <a:r>
              <a:rPr lang="en-US" sz="2000" dirty="0" err="1"/>
              <a:t>một</a:t>
            </a:r>
            <a:r>
              <a:rPr lang="en-US" sz="2000" dirty="0"/>
              <a:t> </a:t>
            </a:r>
            <a:r>
              <a:rPr lang="en-US" sz="2000" b="1" dirty="0">
                <a:solidFill>
                  <a:srgbClr val="BE2727"/>
                </a:solidFill>
              </a:rPr>
              <a:t>URI </a:t>
            </a:r>
            <a:r>
              <a:rPr lang="en-US" sz="2000" dirty="0"/>
              <a:t>logic </a:t>
            </a:r>
            <a:r>
              <a:rPr lang="en-US" sz="2000" b="1" dirty="0" err="1">
                <a:solidFill>
                  <a:srgbClr val="C00000"/>
                </a:solidFill>
              </a:rPr>
              <a:t>duy</a:t>
            </a:r>
            <a:r>
              <a:rPr lang="en-US" sz="2000" b="1" dirty="0">
                <a:solidFill>
                  <a:srgbClr val="C00000"/>
                </a:solidFill>
              </a:rPr>
              <a:t> </a:t>
            </a:r>
            <a:r>
              <a:rPr lang="en-US" sz="2000" b="1" dirty="0" err="1">
                <a:solidFill>
                  <a:srgbClr val="C00000"/>
                </a:solidFill>
              </a:rPr>
              <a:t>nhất</a:t>
            </a:r>
            <a:endParaRPr sz="2000" b="1" dirty="0">
              <a:solidFill>
                <a:srgbClr val="C00000"/>
              </a:solidFill>
            </a:endParaRPr>
          </a:p>
          <a:p>
            <a:pPr marL="457200" lvl="0" indent="0" algn="l" rtl="0">
              <a:spcBef>
                <a:spcPts val="1000"/>
              </a:spcBef>
              <a:spcAft>
                <a:spcPts val="0"/>
              </a:spcAft>
              <a:buNone/>
            </a:pPr>
            <a:r>
              <a:rPr lang="en-US" sz="2000" i="1" dirty="0" err="1"/>
              <a:t>Ví</a:t>
            </a:r>
            <a:r>
              <a:rPr lang="en-US" sz="2000" i="1" dirty="0"/>
              <a:t> </a:t>
            </a:r>
            <a:r>
              <a:rPr lang="en-US" sz="2000" i="1" dirty="0" err="1"/>
              <a:t>dụ</a:t>
            </a:r>
            <a:r>
              <a:rPr lang="en-US" sz="2000" i="1" dirty="0"/>
              <a:t> </a:t>
            </a:r>
            <a:r>
              <a:rPr lang="en-US" sz="2000" i="1" dirty="0" err="1"/>
              <a:t>về</a:t>
            </a:r>
            <a:r>
              <a:rPr lang="en-US" sz="2000" i="1" dirty="0"/>
              <a:t> </a:t>
            </a:r>
            <a:r>
              <a:rPr lang="en-US" sz="2000" i="1" dirty="0" err="1"/>
              <a:t>tài</a:t>
            </a:r>
            <a:r>
              <a:rPr lang="en-US" sz="2000" i="1" dirty="0"/>
              <a:t> </a:t>
            </a:r>
            <a:r>
              <a:rPr lang="en-US" sz="2000" i="1" dirty="0" err="1"/>
              <a:t>nguyên</a:t>
            </a:r>
            <a:r>
              <a:rPr lang="en-US" sz="2000" i="1" dirty="0"/>
              <a:t>: </a:t>
            </a:r>
            <a:r>
              <a:rPr lang="en-US" sz="2000" b="1" i="1" dirty="0"/>
              <a:t>users, customers, products, images,...</a:t>
            </a:r>
            <a:endParaRPr sz="2000" b="1" i="1" dirty="0"/>
          </a:p>
          <a:p>
            <a:pPr marL="457200" lvl="0" indent="0" algn="l" rtl="0">
              <a:spcBef>
                <a:spcPts val="1000"/>
              </a:spcBef>
              <a:spcAft>
                <a:spcPts val="0"/>
              </a:spcAft>
              <a:buNone/>
            </a:pPr>
            <a:endParaRPr sz="2000" dirty="0"/>
          </a:p>
          <a:p>
            <a:pPr marL="457200" lvl="0" indent="0" algn="l" rtl="0">
              <a:spcBef>
                <a:spcPts val="1000"/>
              </a:spcBef>
              <a:spcAft>
                <a:spcPts val="0"/>
              </a:spcAft>
              <a:buNone/>
            </a:pPr>
            <a:endParaRPr sz="2000" b="1" i="1" dirty="0"/>
          </a:p>
        </p:txBody>
      </p:sp>
      <p:sp>
        <p:nvSpPr>
          <p:cNvPr id="218" name="Google Shape;218;g25824957ffb_0_19"/>
          <p:cNvSpPr txBox="1">
            <a:spLocks noGrp="1"/>
          </p:cNvSpPr>
          <p:nvPr>
            <p:ph type="title"/>
          </p:nvPr>
        </p:nvSpPr>
        <p:spPr>
          <a:xfrm>
            <a:off x="838200" y="509145"/>
            <a:ext cx="8463600" cy="945600"/>
          </a:xfrm>
          <a:prstGeom prst="rect">
            <a:avLst/>
          </a:prstGeom>
        </p:spPr>
        <p:txBody>
          <a:bodyPr spcFirstLastPara="1" wrap="square" lIns="91425" tIns="45700" rIns="91425" bIns="45700" anchor="ctr" anchorCtr="0">
            <a:normAutofit/>
          </a:bodyPr>
          <a:lstStyle/>
          <a:p>
            <a:pPr marL="0" lvl="0" indent="0" rtl="0">
              <a:spcBef>
                <a:spcPts val="0"/>
              </a:spcBef>
              <a:spcAft>
                <a:spcPts val="0"/>
              </a:spcAft>
              <a:buNone/>
            </a:pPr>
            <a:r>
              <a:rPr lang="en-US" dirty="0" smtClean="0"/>
              <a:t>4. </a:t>
            </a:r>
            <a:r>
              <a:rPr lang="en-US" dirty="0" err="1" smtClean="0"/>
              <a:t>Tối</a:t>
            </a:r>
            <a:r>
              <a:rPr lang="en-US" dirty="0" smtClean="0"/>
              <a:t> </a:t>
            </a:r>
            <a:r>
              <a:rPr lang="en-US" dirty="0" err="1" smtClean="0"/>
              <a:t>ưu</a:t>
            </a:r>
            <a:r>
              <a:rPr lang="en-US" dirty="0" smtClean="0"/>
              <a:t> code API URL</a:t>
            </a:r>
            <a:endParaRPr dirty="0"/>
          </a:p>
          <a:p>
            <a:pPr marL="0" lvl="0" indent="0" algn="l" rtl="0">
              <a:spcBef>
                <a:spcPts val="0"/>
              </a:spcBef>
              <a:spcAft>
                <a:spcPts val="0"/>
              </a:spcAft>
              <a:buNone/>
            </a:pPr>
            <a:endParaRPr dirty="0"/>
          </a:p>
        </p:txBody>
      </p:sp>
      <p:graphicFrame>
        <p:nvGraphicFramePr>
          <p:cNvPr id="219" name="Google Shape;219;g25824957ffb_0_19"/>
          <p:cNvGraphicFramePr/>
          <p:nvPr/>
        </p:nvGraphicFramePr>
        <p:xfrm>
          <a:off x="677850" y="3054900"/>
          <a:ext cx="10561650" cy="1920975"/>
        </p:xfrm>
        <a:graphic>
          <a:graphicData uri="http://schemas.openxmlformats.org/drawingml/2006/table">
            <a:tbl>
              <a:tblPr>
                <a:noFill/>
                <a:tableStyleId>{EEC230F1-99A8-4EB8-9419-A778263C896F}</a:tableStyleId>
              </a:tblPr>
              <a:tblGrid>
                <a:gridCol w="5280825"/>
                <a:gridCol w="5280825"/>
              </a:tblGrid>
              <a:tr h="640325">
                <a:tc>
                  <a:txBody>
                    <a:bodyPr/>
                    <a:lstStyle/>
                    <a:p>
                      <a:pPr marL="0" lvl="0" indent="0" algn="l" rtl="0">
                        <a:spcBef>
                          <a:spcPts val="0"/>
                        </a:spcBef>
                        <a:spcAft>
                          <a:spcPts val="0"/>
                        </a:spcAft>
                        <a:buNone/>
                      </a:pPr>
                      <a:r>
                        <a:rPr lang="en-US" sz="1800" b="1">
                          <a:solidFill>
                            <a:srgbClr val="1155CC"/>
                          </a:solidFill>
                        </a:rPr>
                        <a:t>Tài nguyên</a:t>
                      </a:r>
                      <a:endParaRPr sz="1800" b="1">
                        <a:solidFill>
                          <a:srgbClr val="1155CC"/>
                        </a:solidFill>
                      </a:endParaRPr>
                    </a:p>
                  </a:txBody>
                  <a:tcPr marL="91425" marR="91425" marT="91425" marB="91425">
                    <a:solidFill>
                      <a:srgbClr val="C9DAF8"/>
                    </a:solidFill>
                  </a:tcPr>
                </a:tc>
                <a:tc>
                  <a:txBody>
                    <a:bodyPr/>
                    <a:lstStyle/>
                    <a:p>
                      <a:pPr marL="0" lvl="0" indent="0" algn="l" rtl="0">
                        <a:spcBef>
                          <a:spcPts val="0"/>
                        </a:spcBef>
                        <a:spcAft>
                          <a:spcPts val="0"/>
                        </a:spcAft>
                        <a:buNone/>
                      </a:pPr>
                      <a:r>
                        <a:rPr lang="en-US" sz="1800" b="1">
                          <a:solidFill>
                            <a:srgbClr val="1155CC"/>
                          </a:solidFill>
                        </a:rPr>
                        <a:t>API URL (Endpoint)</a:t>
                      </a:r>
                      <a:endParaRPr sz="1800" b="1">
                        <a:solidFill>
                          <a:srgbClr val="1155CC"/>
                        </a:solidFill>
                      </a:endParaRPr>
                    </a:p>
                  </a:txBody>
                  <a:tcPr marL="91425" marR="91425" marT="91425" marB="91425">
                    <a:solidFill>
                      <a:srgbClr val="C9DAF8"/>
                    </a:solidFill>
                  </a:tcPr>
                </a:tc>
              </a:tr>
              <a:tr h="640325">
                <a:tc>
                  <a:txBody>
                    <a:bodyPr/>
                    <a:lstStyle/>
                    <a:p>
                      <a:pPr marL="0" lvl="0" indent="0" algn="l" rtl="0">
                        <a:spcBef>
                          <a:spcPts val="0"/>
                        </a:spcBef>
                        <a:spcAft>
                          <a:spcPts val="0"/>
                        </a:spcAft>
                        <a:buNone/>
                      </a:pPr>
                      <a:r>
                        <a:rPr lang="en-US" sz="1600"/>
                        <a:t>API để lấy tất cả người dùng</a:t>
                      </a:r>
                      <a:endParaRPr sz="1600"/>
                    </a:p>
                  </a:txBody>
                  <a:tcPr marL="91425" marR="91425" marT="91425" marB="91425"/>
                </a:tc>
                <a:tc>
                  <a:txBody>
                    <a:bodyPr/>
                    <a:lstStyle/>
                    <a:p>
                      <a:pPr marL="0" lvl="0" indent="0" algn="l" rtl="0">
                        <a:spcBef>
                          <a:spcPts val="0"/>
                        </a:spcBef>
                        <a:spcAft>
                          <a:spcPts val="0"/>
                        </a:spcAft>
                        <a:buNone/>
                      </a:pPr>
                      <a:r>
                        <a:rPr lang="en-US" sz="1600"/>
                        <a:t>api/v1/users</a:t>
                      </a:r>
                      <a:endParaRPr sz="1600"/>
                    </a:p>
                  </a:txBody>
                  <a:tcPr marL="91425" marR="91425" marT="91425" marB="91425"/>
                </a:tc>
              </a:tr>
              <a:tr h="640325">
                <a:tc>
                  <a:txBody>
                    <a:bodyPr/>
                    <a:lstStyle/>
                    <a:p>
                      <a:pPr marL="0" lvl="0" indent="0" algn="l" rtl="0">
                        <a:spcBef>
                          <a:spcPts val="0"/>
                        </a:spcBef>
                        <a:spcAft>
                          <a:spcPts val="0"/>
                        </a:spcAft>
                        <a:buNone/>
                      </a:pPr>
                      <a:r>
                        <a:rPr lang="en-US" sz="1600"/>
                        <a:t>API để lấy thông tin chi tiết người dùng có Id là 123</a:t>
                      </a:r>
                      <a:endParaRPr sz="1600"/>
                    </a:p>
                  </a:txBody>
                  <a:tcPr marL="91425" marR="91425" marT="91425" marB="91425"/>
                </a:tc>
                <a:tc>
                  <a:txBody>
                    <a:bodyPr/>
                    <a:lstStyle/>
                    <a:p>
                      <a:pPr marL="0" lvl="0" indent="0" algn="l" rtl="0">
                        <a:spcBef>
                          <a:spcPts val="0"/>
                        </a:spcBef>
                        <a:spcAft>
                          <a:spcPts val="0"/>
                        </a:spcAft>
                        <a:buNone/>
                      </a:pPr>
                      <a:r>
                        <a:rPr lang="en-US" sz="1600"/>
                        <a:t>api/v1/user/123</a:t>
                      </a:r>
                      <a:endParaRPr sz="1600"/>
                    </a:p>
                  </a:txBody>
                  <a:tcPr marL="91425" marR="91425" marT="91425" marB="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25824957ffb_0_67"/>
          <p:cNvSpPr txBox="1">
            <a:spLocks noGrp="1"/>
          </p:cNvSpPr>
          <p:nvPr>
            <p:ph type="body" idx="1"/>
          </p:nvPr>
        </p:nvSpPr>
        <p:spPr>
          <a:xfrm>
            <a:off x="712500" y="1454750"/>
            <a:ext cx="8924700" cy="4543200"/>
          </a:xfrm>
          <a:prstGeom prst="rect">
            <a:avLst/>
          </a:prstGeom>
        </p:spPr>
        <p:txBody>
          <a:bodyPr spcFirstLastPara="1" wrap="square" lIns="91425" tIns="45700" rIns="91425" bIns="45700" anchor="t" anchorCtr="0">
            <a:noAutofit/>
          </a:bodyPr>
          <a:lstStyle/>
          <a:p>
            <a:pPr marL="457200" lvl="0" indent="-342900" algn="l" rtl="0">
              <a:lnSpc>
                <a:spcPct val="200000"/>
              </a:lnSpc>
              <a:spcBef>
                <a:spcPts val="0"/>
              </a:spcBef>
              <a:spcAft>
                <a:spcPts val="0"/>
              </a:spcAft>
              <a:buClr>
                <a:schemeClr val="dk1"/>
              </a:buClr>
              <a:buSzPts val="1800"/>
              <a:buFont typeface="Oswald"/>
              <a:buChar char="●"/>
            </a:pPr>
            <a:r>
              <a:rPr lang="en-US" sz="1800" b="1" dirty="0">
                <a:solidFill>
                  <a:srgbClr val="C00000"/>
                </a:solidFill>
                <a:latin typeface="Oswald"/>
                <a:ea typeface="Oswald"/>
                <a:cs typeface="Oswald"/>
                <a:sym typeface="Oswald"/>
              </a:rPr>
              <a:t>GET</a:t>
            </a:r>
            <a:r>
              <a:rPr lang="en-US" sz="1800" b="1" dirty="0">
                <a:latin typeface="Oswald"/>
                <a:ea typeface="Oswald"/>
                <a:cs typeface="Oswald"/>
                <a:sym typeface="Oswald"/>
              </a:rPr>
              <a:t>:</a:t>
            </a:r>
            <a:r>
              <a:rPr lang="en-US" sz="1800" dirty="0">
                <a:latin typeface="Oswald"/>
                <a:ea typeface="Oswald"/>
                <a:cs typeface="Oswald"/>
                <a:sym typeface="Oswald"/>
              </a:rPr>
              <a:t> </a:t>
            </a:r>
            <a:r>
              <a:rPr lang="en-US" sz="1800" dirty="0" err="1">
                <a:latin typeface="Oswald"/>
                <a:ea typeface="Oswald"/>
                <a:cs typeface="Oswald"/>
                <a:sym typeface="Oswald"/>
              </a:rPr>
              <a:t>Sử</a:t>
            </a:r>
            <a:r>
              <a:rPr lang="en-US" sz="1800" dirty="0">
                <a:latin typeface="Oswald"/>
                <a:ea typeface="Oswald"/>
                <a:cs typeface="Oswald"/>
                <a:sym typeface="Oswald"/>
              </a:rPr>
              <a:t> </a:t>
            </a:r>
            <a:r>
              <a:rPr lang="en-US" sz="1800" dirty="0" err="1">
                <a:latin typeface="Oswald"/>
                <a:ea typeface="Oswald"/>
                <a:cs typeface="Oswald"/>
                <a:sym typeface="Oswald"/>
              </a:rPr>
              <a:t>dụng</a:t>
            </a:r>
            <a:r>
              <a:rPr lang="en-US" sz="1800" dirty="0">
                <a:latin typeface="Oswald"/>
                <a:ea typeface="Oswald"/>
                <a:cs typeface="Oswald"/>
                <a:sym typeface="Oswald"/>
              </a:rPr>
              <a:t> </a:t>
            </a:r>
            <a:r>
              <a:rPr lang="en-US" sz="1800" dirty="0" err="1">
                <a:latin typeface="Oswald"/>
                <a:ea typeface="Oswald"/>
                <a:cs typeface="Oswald"/>
                <a:sym typeface="Oswald"/>
              </a:rPr>
              <a:t>cho</a:t>
            </a:r>
            <a:r>
              <a:rPr lang="en-US" sz="1800" dirty="0">
                <a:latin typeface="Oswald"/>
                <a:ea typeface="Oswald"/>
                <a:cs typeface="Oswald"/>
                <a:sym typeface="Oswald"/>
              </a:rPr>
              <a:t> </a:t>
            </a:r>
            <a:r>
              <a:rPr lang="en-US" sz="1800" dirty="0" err="1">
                <a:latin typeface="Oswald"/>
                <a:ea typeface="Oswald"/>
                <a:cs typeface="Oswald"/>
                <a:sym typeface="Oswald"/>
              </a:rPr>
              <a:t>những</a:t>
            </a:r>
            <a:r>
              <a:rPr lang="en-US" sz="1800" dirty="0">
                <a:latin typeface="Oswald"/>
                <a:ea typeface="Oswald"/>
                <a:cs typeface="Oswald"/>
                <a:sym typeface="Oswald"/>
              </a:rPr>
              <a:t> API </a:t>
            </a:r>
            <a:r>
              <a:rPr lang="en-US" sz="1800" dirty="0" err="1">
                <a:latin typeface="Oswald"/>
                <a:ea typeface="Oswald"/>
                <a:cs typeface="Oswald"/>
                <a:sym typeface="Oswald"/>
              </a:rPr>
              <a:t>lấy</a:t>
            </a:r>
            <a:r>
              <a:rPr lang="en-US" sz="1800" dirty="0">
                <a:latin typeface="Oswald"/>
                <a:ea typeface="Oswald"/>
                <a:cs typeface="Oswald"/>
                <a:sym typeface="Oswald"/>
              </a:rPr>
              <a:t> </a:t>
            </a:r>
            <a:r>
              <a:rPr lang="en-US" sz="1800" dirty="0" err="1">
                <a:latin typeface="Oswald"/>
                <a:ea typeface="Oswald"/>
                <a:cs typeface="Oswald"/>
                <a:sym typeface="Oswald"/>
              </a:rPr>
              <a:t>tài</a:t>
            </a:r>
            <a:r>
              <a:rPr lang="en-US" sz="1800" dirty="0">
                <a:latin typeface="Oswald"/>
                <a:ea typeface="Oswald"/>
                <a:cs typeface="Oswald"/>
                <a:sym typeface="Oswald"/>
              </a:rPr>
              <a:t> </a:t>
            </a:r>
            <a:r>
              <a:rPr lang="en-US" sz="1800" dirty="0" err="1">
                <a:latin typeface="Oswald"/>
                <a:ea typeface="Oswald"/>
                <a:cs typeface="Oswald"/>
                <a:sym typeface="Oswald"/>
              </a:rPr>
              <a:t>nguyên</a:t>
            </a:r>
            <a:r>
              <a:rPr lang="en-US" sz="1800" dirty="0">
                <a:latin typeface="Oswald"/>
                <a:ea typeface="Oswald"/>
                <a:cs typeface="Oswald"/>
                <a:sym typeface="Oswald"/>
              </a:rPr>
              <a:t>. </a:t>
            </a:r>
            <a:br>
              <a:rPr lang="en-US" sz="1800" dirty="0">
                <a:latin typeface="Oswald"/>
                <a:ea typeface="Oswald"/>
                <a:cs typeface="Oswald"/>
                <a:sym typeface="Oswald"/>
              </a:rPr>
            </a:br>
            <a:r>
              <a:rPr lang="en-US" sz="1800" dirty="0" err="1">
                <a:latin typeface="Oswald"/>
                <a:ea typeface="Oswald"/>
                <a:cs typeface="Oswald"/>
                <a:sym typeface="Oswald"/>
              </a:rPr>
              <a:t>Ví</a:t>
            </a:r>
            <a:r>
              <a:rPr lang="en-US" sz="1800" dirty="0">
                <a:latin typeface="Oswald"/>
                <a:ea typeface="Oswald"/>
                <a:cs typeface="Oswald"/>
                <a:sym typeface="Oswald"/>
              </a:rPr>
              <a:t> </a:t>
            </a:r>
            <a:r>
              <a:rPr lang="en-US" sz="1800" dirty="0" err="1">
                <a:latin typeface="Oswald"/>
                <a:ea typeface="Oswald"/>
                <a:cs typeface="Oswald"/>
                <a:sym typeface="Oswald"/>
              </a:rPr>
              <a:t>dụ</a:t>
            </a:r>
            <a:r>
              <a:rPr lang="en-US" sz="1800" dirty="0">
                <a:latin typeface="Oswald"/>
                <a:ea typeface="Oswald"/>
                <a:cs typeface="Oswald"/>
                <a:sym typeface="Oswald"/>
              </a:rPr>
              <a:t>: API </a:t>
            </a:r>
            <a:r>
              <a:rPr lang="en-US" sz="1800" b="1" dirty="0" err="1">
                <a:latin typeface="Oswald"/>
                <a:ea typeface="Oswald"/>
                <a:cs typeface="Oswald"/>
                <a:sym typeface="Oswald"/>
              </a:rPr>
              <a:t>lấy</a:t>
            </a:r>
            <a:r>
              <a:rPr lang="en-US" sz="1800" dirty="0">
                <a:latin typeface="Oswald"/>
                <a:ea typeface="Oswald"/>
                <a:cs typeface="Oswald"/>
                <a:sym typeface="Oswald"/>
              </a:rPr>
              <a:t> </a:t>
            </a:r>
            <a:r>
              <a:rPr lang="en-US" sz="1800" dirty="0" err="1">
                <a:latin typeface="Oswald"/>
                <a:ea typeface="Oswald"/>
                <a:cs typeface="Oswald"/>
                <a:sym typeface="Oswald"/>
              </a:rPr>
              <a:t>danh</a:t>
            </a:r>
            <a:r>
              <a:rPr lang="en-US" sz="1800" dirty="0">
                <a:latin typeface="Oswald"/>
                <a:ea typeface="Oswald"/>
                <a:cs typeface="Oswald"/>
                <a:sym typeface="Oswald"/>
              </a:rPr>
              <a:t> </a:t>
            </a:r>
            <a:r>
              <a:rPr lang="en-US" sz="1800" dirty="0" err="1">
                <a:latin typeface="Oswald"/>
                <a:ea typeface="Oswald"/>
                <a:cs typeface="Oswald"/>
                <a:sym typeface="Oswald"/>
              </a:rPr>
              <a:t>sách</a:t>
            </a:r>
            <a:r>
              <a:rPr lang="en-US" sz="1800" dirty="0">
                <a:latin typeface="Oswald"/>
                <a:ea typeface="Oswald"/>
                <a:cs typeface="Oswald"/>
                <a:sym typeface="Oswald"/>
              </a:rPr>
              <a:t> </a:t>
            </a:r>
            <a:r>
              <a:rPr lang="en-US" sz="1800" b="1" dirty="0" err="1">
                <a:latin typeface="Oswald"/>
                <a:ea typeface="Oswald"/>
                <a:cs typeface="Oswald"/>
                <a:sym typeface="Oswald"/>
              </a:rPr>
              <a:t>tất</a:t>
            </a:r>
            <a:r>
              <a:rPr lang="en-US" sz="1800" b="1" dirty="0">
                <a:latin typeface="Oswald"/>
                <a:ea typeface="Oswald"/>
                <a:cs typeface="Oswald"/>
                <a:sym typeface="Oswald"/>
              </a:rPr>
              <a:t> </a:t>
            </a:r>
            <a:r>
              <a:rPr lang="en-US" sz="1800" b="1" dirty="0" err="1">
                <a:latin typeface="Oswald"/>
                <a:ea typeface="Oswald"/>
                <a:cs typeface="Oswald"/>
                <a:sym typeface="Oswald"/>
              </a:rPr>
              <a:t>cả</a:t>
            </a:r>
            <a:r>
              <a:rPr lang="en-US" sz="1800" b="1" dirty="0">
                <a:latin typeface="Oswald"/>
                <a:ea typeface="Oswald"/>
                <a:cs typeface="Oswald"/>
                <a:sym typeface="Oswald"/>
              </a:rPr>
              <a:t> </a:t>
            </a:r>
            <a:r>
              <a:rPr lang="en-US" sz="1800" b="1" dirty="0" err="1">
                <a:latin typeface="Oswald"/>
                <a:ea typeface="Oswald"/>
                <a:cs typeface="Oswald"/>
                <a:sym typeface="Oswald"/>
              </a:rPr>
              <a:t>người</a:t>
            </a:r>
            <a:r>
              <a:rPr lang="en-US" sz="1800" b="1" dirty="0">
                <a:latin typeface="Oswald"/>
                <a:ea typeface="Oswald"/>
                <a:cs typeface="Oswald"/>
                <a:sym typeface="Oswald"/>
              </a:rPr>
              <a:t> </a:t>
            </a:r>
            <a:r>
              <a:rPr lang="en-US" sz="1800" b="1" dirty="0" err="1">
                <a:latin typeface="Oswald"/>
                <a:ea typeface="Oswald"/>
                <a:cs typeface="Oswald"/>
                <a:sym typeface="Oswald"/>
              </a:rPr>
              <a:t>dùng</a:t>
            </a:r>
            <a:r>
              <a:rPr lang="en-US" sz="1800" dirty="0">
                <a:latin typeface="Oswald"/>
                <a:ea typeface="Oswald"/>
                <a:cs typeface="Oswald"/>
                <a:sym typeface="Oswald"/>
              </a:rPr>
              <a:t>: </a:t>
            </a:r>
            <a:r>
              <a:rPr lang="en-US" sz="1800" b="1" dirty="0">
                <a:latin typeface="Oswald"/>
                <a:ea typeface="Oswald"/>
                <a:cs typeface="Oswald"/>
                <a:sym typeface="Oswald"/>
              </a:rPr>
              <a:t>GET /users</a:t>
            </a:r>
            <a:endParaRPr sz="1800" b="1" dirty="0">
              <a:latin typeface="Oswald"/>
              <a:ea typeface="Oswald"/>
              <a:cs typeface="Oswald"/>
              <a:sym typeface="Oswald"/>
            </a:endParaRPr>
          </a:p>
          <a:p>
            <a:pPr marL="457200" lvl="0" indent="-342900" algn="l" rtl="0">
              <a:lnSpc>
                <a:spcPct val="200000"/>
              </a:lnSpc>
              <a:spcBef>
                <a:spcPts val="0"/>
              </a:spcBef>
              <a:spcAft>
                <a:spcPts val="0"/>
              </a:spcAft>
              <a:buClr>
                <a:schemeClr val="dk1"/>
              </a:buClr>
              <a:buSzPts val="1800"/>
              <a:buFont typeface="Oswald"/>
              <a:buChar char="●"/>
            </a:pPr>
            <a:r>
              <a:rPr lang="en-US" sz="1800" b="1" dirty="0">
                <a:solidFill>
                  <a:srgbClr val="C00000"/>
                </a:solidFill>
                <a:latin typeface="Oswald"/>
                <a:ea typeface="Oswald"/>
                <a:cs typeface="Oswald"/>
                <a:sym typeface="Oswald"/>
              </a:rPr>
              <a:t>POST</a:t>
            </a:r>
            <a:r>
              <a:rPr lang="en-US" sz="1800" b="1" dirty="0">
                <a:latin typeface="Oswald"/>
                <a:ea typeface="Oswald"/>
                <a:cs typeface="Oswald"/>
                <a:sym typeface="Oswald"/>
              </a:rPr>
              <a:t>:</a:t>
            </a:r>
            <a:r>
              <a:rPr lang="en-US" sz="1800" dirty="0">
                <a:latin typeface="Oswald"/>
                <a:ea typeface="Oswald"/>
                <a:cs typeface="Oswald"/>
                <a:sym typeface="Oswald"/>
              </a:rPr>
              <a:t> </a:t>
            </a:r>
            <a:r>
              <a:rPr lang="en-US" sz="1800" dirty="0" err="1">
                <a:latin typeface="Oswald"/>
                <a:ea typeface="Oswald"/>
                <a:cs typeface="Oswald"/>
                <a:sym typeface="Oswald"/>
              </a:rPr>
              <a:t>Sử</a:t>
            </a:r>
            <a:r>
              <a:rPr lang="en-US" sz="1800" dirty="0">
                <a:latin typeface="Oswald"/>
                <a:ea typeface="Oswald"/>
                <a:cs typeface="Oswald"/>
                <a:sym typeface="Oswald"/>
              </a:rPr>
              <a:t> </a:t>
            </a:r>
            <a:r>
              <a:rPr lang="en-US" sz="1800" dirty="0" err="1">
                <a:latin typeface="Oswald"/>
                <a:ea typeface="Oswald"/>
                <a:cs typeface="Oswald"/>
                <a:sym typeface="Oswald"/>
              </a:rPr>
              <a:t>dụng</a:t>
            </a:r>
            <a:r>
              <a:rPr lang="en-US" sz="1800" dirty="0">
                <a:latin typeface="Oswald"/>
                <a:ea typeface="Oswald"/>
                <a:cs typeface="Oswald"/>
                <a:sym typeface="Oswald"/>
              </a:rPr>
              <a:t> </a:t>
            </a:r>
            <a:r>
              <a:rPr lang="en-US" sz="1800" dirty="0" err="1">
                <a:latin typeface="Oswald"/>
                <a:ea typeface="Oswald"/>
                <a:cs typeface="Oswald"/>
                <a:sym typeface="Oswald"/>
              </a:rPr>
              <a:t>cho</a:t>
            </a:r>
            <a:r>
              <a:rPr lang="en-US" sz="1800" dirty="0">
                <a:latin typeface="Oswald"/>
                <a:ea typeface="Oswald"/>
                <a:cs typeface="Oswald"/>
                <a:sym typeface="Oswald"/>
              </a:rPr>
              <a:t> </a:t>
            </a:r>
            <a:r>
              <a:rPr lang="en-US" sz="1800" dirty="0" err="1">
                <a:latin typeface="Oswald"/>
                <a:ea typeface="Oswald"/>
                <a:cs typeface="Oswald"/>
                <a:sym typeface="Oswald"/>
              </a:rPr>
              <a:t>những</a:t>
            </a:r>
            <a:r>
              <a:rPr lang="en-US" sz="1800" dirty="0">
                <a:latin typeface="Oswald"/>
                <a:ea typeface="Oswald"/>
                <a:cs typeface="Oswald"/>
                <a:sym typeface="Oswald"/>
              </a:rPr>
              <a:t> API </a:t>
            </a:r>
            <a:r>
              <a:rPr lang="en-US" sz="1800" dirty="0" err="1">
                <a:latin typeface="Oswald"/>
                <a:ea typeface="Oswald"/>
                <a:cs typeface="Oswald"/>
                <a:sym typeface="Oswald"/>
              </a:rPr>
              <a:t>tạo</a:t>
            </a:r>
            <a:r>
              <a:rPr lang="en-US" sz="1800" dirty="0">
                <a:latin typeface="Oswald"/>
                <a:ea typeface="Oswald"/>
                <a:cs typeface="Oswald"/>
                <a:sym typeface="Oswald"/>
              </a:rPr>
              <a:t> </a:t>
            </a:r>
            <a:r>
              <a:rPr lang="en-US" sz="1800" dirty="0" err="1">
                <a:latin typeface="Oswald"/>
                <a:ea typeface="Oswald"/>
                <a:cs typeface="Oswald"/>
                <a:sym typeface="Oswald"/>
              </a:rPr>
              <a:t>tài</a:t>
            </a:r>
            <a:r>
              <a:rPr lang="en-US" sz="1800" dirty="0">
                <a:latin typeface="Oswald"/>
                <a:ea typeface="Oswald"/>
                <a:cs typeface="Oswald"/>
                <a:sym typeface="Oswald"/>
              </a:rPr>
              <a:t> </a:t>
            </a:r>
            <a:r>
              <a:rPr lang="en-US" sz="1800" dirty="0" err="1">
                <a:latin typeface="Oswald"/>
                <a:ea typeface="Oswald"/>
                <a:cs typeface="Oswald"/>
                <a:sym typeface="Oswald"/>
              </a:rPr>
              <a:t>nguyên</a:t>
            </a:r>
            <a:r>
              <a:rPr lang="en-US" sz="1800" dirty="0">
                <a:latin typeface="Oswald"/>
                <a:ea typeface="Oswald"/>
                <a:cs typeface="Oswald"/>
                <a:sym typeface="Oswald"/>
              </a:rPr>
              <a:t>. </a:t>
            </a:r>
            <a:br>
              <a:rPr lang="en-US" sz="1800" dirty="0">
                <a:latin typeface="Oswald"/>
                <a:ea typeface="Oswald"/>
                <a:cs typeface="Oswald"/>
                <a:sym typeface="Oswald"/>
              </a:rPr>
            </a:br>
            <a:r>
              <a:rPr lang="en-US" sz="1800" dirty="0" err="1">
                <a:latin typeface="Oswald"/>
                <a:ea typeface="Oswald"/>
                <a:cs typeface="Oswald"/>
                <a:sym typeface="Oswald"/>
              </a:rPr>
              <a:t>Ví</a:t>
            </a:r>
            <a:r>
              <a:rPr lang="en-US" sz="1800" dirty="0">
                <a:latin typeface="Oswald"/>
                <a:ea typeface="Oswald"/>
                <a:cs typeface="Oswald"/>
                <a:sym typeface="Oswald"/>
              </a:rPr>
              <a:t> </a:t>
            </a:r>
            <a:r>
              <a:rPr lang="en-US" sz="1800" dirty="0" err="1">
                <a:latin typeface="Oswald"/>
                <a:ea typeface="Oswald"/>
                <a:cs typeface="Oswald"/>
                <a:sym typeface="Oswald"/>
              </a:rPr>
              <a:t>dụ</a:t>
            </a:r>
            <a:r>
              <a:rPr lang="en-US" sz="1800" dirty="0">
                <a:latin typeface="Oswald"/>
                <a:ea typeface="Oswald"/>
                <a:cs typeface="Oswald"/>
                <a:sym typeface="Oswald"/>
              </a:rPr>
              <a:t>: API </a:t>
            </a:r>
            <a:r>
              <a:rPr lang="en-US" sz="1800" b="1" dirty="0" err="1">
                <a:latin typeface="Oswald"/>
                <a:ea typeface="Oswald"/>
                <a:cs typeface="Oswald"/>
                <a:sym typeface="Oswald"/>
              </a:rPr>
              <a:t>tạo</a:t>
            </a:r>
            <a:r>
              <a:rPr lang="en-US" sz="1800" dirty="0">
                <a:latin typeface="Oswald"/>
                <a:ea typeface="Oswald"/>
                <a:cs typeface="Oswald"/>
                <a:sym typeface="Oswald"/>
              </a:rPr>
              <a:t> </a:t>
            </a:r>
            <a:r>
              <a:rPr lang="en-US" sz="1800" dirty="0" err="1">
                <a:latin typeface="Oswald"/>
                <a:ea typeface="Oswald"/>
                <a:cs typeface="Oswald"/>
                <a:sym typeface="Oswald"/>
              </a:rPr>
              <a:t>người</a:t>
            </a:r>
            <a:r>
              <a:rPr lang="en-US" sz="1800" dirty="0">
                <a:latin typeface="Oswald"/>
                <a:ea typeface="Oswald"/>
                <a:cs typeface="Oswald"/>
                <a:sym typeface="Oswald"/>
              </a:rPr>
              <a:t> </a:t>
            </a:r>
            <a:r>
              <a:rPr lang="en-US" sz="1800" dirty="0" err="1">
                <a:latin typeface="Oswald"/>
                <a:ea typeface="Oswald"/>
                <a:cs typeface="Oswald"/>
                <a:sym typeface="Oswald"/>
              </a:rPr>
              <a:t>dùng</a:t>
            </a:r>
            <a:r>
              <a:rPr lang="en-US" sz="1800" dirty="0">
                <a:latin typeface="Oswald"/>
                <a:ea typeface="Oswald"/>
                <a:cs typeface="Oswald"/>
                <a:sym typeface="Oswald"/>
              </a:rPr>
              <a:t>: </a:t>
            </a:r>
            <a:r>
              <a:rPr lang="en-US" sz="1800" b="1" dirty="0">
                <a:latin typeface="Oswald"/>
                <a:ea typeface="Oswald"/>
                <a:cs typeface="Oswald"/>
                <a:sym typeface="Oswald"/>
              </a:rPr>
              <a:t>POST /users</a:t>
            </a:r>
            <a:endParaRPr sz="1800" b="1" dirty="0">
              <a:latin typeface="Oswald"/>
              <a:ea typeface="Oswald"/>
              <a:cs typeface="Oswald"/>
              <a:sym typeface="Oswald"/>
            </a:endParaRPr>
          </a:p>
          <a:p>
            <a:pPr lvl="0" indent="-342900">
              <a:lnSpc>
                <a:spcPct val="200000"/>
              </a:lnSpc>
              <a:spcBef>
                <a:spcPts val="0"/>
              </a:spcBef>
              <a:buClr>
                <a:schemeClr val="dk1"/>
              </a:buClr>
              <a:buSzPts val="1800"/>
              <a:buFont typeface="Oswald"/>
              <a:buChar char="●"/>
            </a:pPr>
            <a:r>
              <a:rPr lang="en-US" sz="1800" b="1" dirty="0" smtClean="0">
                <a:solidFill>
                  <a:srgbClr val="C00000"/>
                </a:solidFill>
                <a:latin typeface="Oswald"/>
                <a:ea typeface="Oswald"/>
                <a:cs typeface="Oswald"/>
                <a:sym typeface="Oswald"/>
              </a:rPr>
              <a:t>404 Not Found: </a:t>
            </a:r>
            <a:r>
              <a:rPr lang="en-US" sz="1800" dirty="0" smtClean="0">
                <a:latin typeface="Oswald"/>
                <a:ea typeface="Oswald"/>
                <a:cs typeface="Oswald"/>
                <a:sym typeface="Oswald"/>
              </a:rPr>
              <a:t> </a:t>
            </a:r>
            <a:r>
              <a:rPr lang="en-US" sz="1800" dirty="0" err="1" smtClean="0">
                <a:latin typeface="Oswald"/>
                <a:ea typeface="Oswald"/>
                <a:cs typeface="Oswald"/>
                <a:sym typeface="Oswald"/>
              </a:rPr>
              <a:t>Mã</a:t>
            </a:r>
            <a:r>
              <a:rPr lang="en-US" sz="1800" dirty="0" smtClean="0">
                <a:latin typeface="Oswald"/>
                <a:ea typeface="Oswald"/>
                <a:cs typeface="Oswald"/>
                <a:sym typeface="Oswald"/>
              </a:rPr>
              <a:t> </a:t>
            </a:r>
            <a:r>
              <a:rPr lang="en-US" sz="1800" dirty="0" err="1" smtClean="0">
                <a:latin typeface="Oswald"/>
                <a:ea typeface="Oswald"/>
                <a:cs typeface="Oswald"/>
                <a:sym typeface="Oswald"/>
              </a:rPr>
              <a:t>trạng</a:t>
            </a:r>
            <a:r>
              <a:rPr lang="en-US" sz="1800" dirty="0" smtClean="0">
                <a:latin typeface="Oswald"/>
                <a:ea typeface="Oswald"/>
                <a:cs typeface="Oswald"/>
                <a:sym typeface="Oswald"/>
              </a:rPr>
              <a:t> </a:t>
            </a:r>
            <a:r>
              <a:rPr lang="en-US" sz="1800" dirty="0" err="1" smtClean="0">
                <a:latin typeface="Oswald"/>
                <a:ea typeface="Oswald"/>
                <a:cs typeface="Oswald"/>
                <a:sym typeface="Oswald"/>
              </a:rPr>
              <a:t>thái</a:t>
            </a:r>
            <a:r>
              <a:rPr lang="en-US" sz="1800" dirty="0" smtClean="0">
                <a:latin typeface="Oswald"/>
                <a:ea typeface="Oswald"/>
                <a:cs typeface="Oswald"/>
                <a:sym typeface="Oswald"/>
              </a:rPr>
              <a:t> </a:t>
            </a:r>
            <a:r>
              <a:rPr lang="en-US" sz="1800" dirty="0" err="1" smtClean="0">
                <a:latin typeface="Oswald"/>
                <a:ea typeface="Oswald"/>
                <a:cs typeface="Oswald"/>
                <a:sym typeface="Oswald"/>
              </a:rPr>
              <a:t>với</a:t>
            </a:r>
            <a:r>
              <a:rPr lang="en-US" sz="1800" dirty="0" smtClean="0">
                <a:latin typeface="Oswald"/>
                <a:ea typeface="Oswald"/>
                <a:cs typeface="Oswald"/>
                <a:sym typeface="Oswald"/>
              </a:rPr>
              <a:t> </a:t>
            </a:r>
            <a:r>
              <a:rPr lang="en-US" sz="1800" dirty="0" err="1" smtClean="0">
                <a:latin typeface="Oswald"/>
                <a:ea typeface="Oswald"/>
                <a:cs typeface="Oswald"/>
                <a:sym typeface="Oswald"/>
              </a:rPr>
              <a:t>thông</a:t>
            </a:r>
            <a:r>
              <a:rPr lang="en-US" sz="1800" dirty="0" smtClean="0">
                <a:latin typeface="Oswald"/>
                <a:ea typeface="Oswald"/>
                <a:cs typeface="Oswald"/>
                <a:sym typeface="Oswald"/>
              </a:rPr>
              <a:t> </a:t>
            </a:r>
            <a:r>
              <a:rPr lang="en-US" sz="1800" dirty="0" err="1" smtClean="0">
                <a:latin typeface="Oswald"/>
                <a:ea typeface="Oswald"/>
                <a:cs typeface="Oswald"/>
                <a:sym typeface="Oswald"/>
              </a:rPr>
              <a:t>báo</a:t>
            </a:r>
            <a:r>
              <a:rPr lang="en-US" sz="1800" dirty="0" smtClean="0">
                <a:latin typeface="Oswald"/>
                <a:ea typeface="Oswald"/>
                <a:cs typeface="Oswald"/>
                <a:sym typeface="Oswald"/>
              </a:rPr>
              <a:t> </a:t>
            </a:r>
            <a:r>
              <a:rPr lang="en-US" sz="1800" dirty="0" err="1" smtClean="0">
                <a:latin typeface="Oswald"/>
                <a:ea typeface="Oswald"/>
                <a:cs typeface="Oswald"/>
                <a:sym typeface="Oswald"/>
              </a:rPr>
              <a:t>lỗi</a:t>
            </a:r>
            <a:endParaRPr lang="en-US" sz="1800" b="1" dirty="0" smtClean="0">
              <a:solidFill>
                <a:srgbClr val="C00000"/>
              </a:solidFill>
              <a:latin typeface="Oswald"/>
              <a:ea typeface="Oswald"/>
              <a:cs typeface="Oswald"/>
              <a:sym typeface="Oswald"/>
            </a:endParaRPr>
          </a:p>
          <a:p>
            <a:pPr marL="114300" indent="0">
              <a:lnSpc>
                <a:spcPct val="200000"/>
              </a:lnSpc>
              <a:spcBef>
                <a:spcPts val="0"/>
              </a:spcBef>
              <a:buClr>
                <a:schemeClr val="dk1"/>
              </a:buClr>
              <a:buSzPts val="1800"/>
              <a:buNone/>
            </a:pPr>
            <a:r>
              <a:rPr lang="en-US" sz="1800" dirty="0" smtClean="0">
                <a:latin typeface="Oswald"/>
                <a:ea typeface="Oswald"/>
                <a:cs typeface="Oswald"/>
                <a:sym typeface="Oswald"/>
              </a:rPr>
              <a:t>      Endpoint: ‘GET/ </a:t>
            </a:r>
            <a:r>
              <a:rPr lang="en-US" sz="1800" dirty="0" err="1" smtClean="0">
                <a:latin typeface="Oswald"/>
                <a:ea typeface="Oswald"/>
                <a:cs typeface="Oswald"/>
                <a:sym typeface="Oswald"/>
              </a:rPr>
              <a:t>api</a:t>
            </a:r>
            <a:r>
              <a:rPr lang="en-US" sz="1800" dirty="0" smtClean="0">
                <a:latin typeface="Oswald"/>
                <a:ea typeface="Oswald"/>
                <a:cs typeface="Oswald"/>
                <a:sym typeface="Oswald"/>
              </a:rPr>
              <a:t>/</a:t>
            </a:r>
            <a:r>
              <a:rPr lang="en-US" sz="1800" dirty="0" err="1" smtClean="0">
                <a:latin typeface="Oswald"/>
                <a:ea typeface="Oswald"/>
                <a:cs typeface="Oswald"/>
                <a:sym typeface="Oswald"/>
              </a:rPr>
              <a:t>ahihi</a:t>
            </a:r>
            <a:endParaRPr lang="vi-VN" sz="1800" b="1" dirty="0">
              <a:latin typeface="Oswald"/>
              <a:ea typeface="Oswald"/>
              <a:cs typeface="Oswald"/>
              <a:sym typeface="Oswald"/>
            </a:endParaRPr>
          </a:p>
          <a:p>
            <a:pPr marL="457200" lvl="0" indent="-342900" algn="l" rtl="0">
              <a:lnSpc>
                <a:spcPct val="200000"/>
              </a:lnSpc>
              <a:spcBef>
                <a:spcPts val="0"/>
              </a:spcBef>
              <a:spcAft>
                <a:spcPts val="0"/>
              </a:spcAft>
              <a:buClr>
                <a:schemeClr val="dk1"/>
              </a:buClr>
              <a:buSzPts val="1800"/>
              <a:buFont typeface="Oswald"/>
              <a:buChar char="●"/>
            </a:pPr>
            <a:endParaRPr sz="1800" dirty="0">
              <a:latin typeface="Oswald"/>
              <a:ea typeface="Oswald"/>
              <a:cs typeface="Oswald"/>
              <a:sym typeface="Oswald"/>
            </a:endParaRPr>
          </a:p>
        </p:txBody>
      </p:sp>
      <p:sp>
        <p:nvSpPr>
          <p:cNvPr id="257" name="Google Shape;257;g25824957ffb_0_67"/>
          <p:cNvSpPr txBox="1">
            <a:spLocks noGrp="1"/>
          </p:cNvSpPr>
          <p:nvPr>
            <p:ph type="title"/>
          </p:nvPr>
        </p:nvSpPr>
        <p:spPr>
          <a:xfrm>
            <a:off x="838200" y="509145"/>
            <a:ext cx="8463600" cy="945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sz="2400">
                <a:solidFill>
                  <a:srgbClr val="C00000"/>
                </a:solidFill>
                <a:latin typeface="Montserrat"/>
                <a:ea typeface="Montserrat"/>
                <a:cs typeface="Montserrat"/>
                <a:sym typeface="Montserrat"/>
              </a:rPr>
              <a:t>2. Các phương thức HTTP basic và HTTP Preflight</a:t>
            </a:r>
            <a:r>
              <a:rPr lang="en-US">
                <a:solidFill>
                  <a:srgbClr val="C00000"/>
                </a:solidFill>
              </a:rPr>
              <a:t> </a:t>
            </a:r>
            <a:endParaRPr>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5824957ffb_0_74"/>
          <p:cNvSpPr txBox="1">
            <a:spLocks noGrp="1"/>
          </p:cNvSpPr>
          <p:nvPr>
            <p:ph type="body" idx="1"/>
          </p:nvPr>
        </p:nvSpPr>
        <p:spPr>
          <a:xfrm>
            <a:off x="742500" y="1671725"/>
            <a:ext cx="9585000" cy="4326300"/>
          </a:xfrm>
          <a:prstGeom prst="rect">
            <a:avLst/>
          </a:prstGeom>
        </p:spPr>
        <p:txBody>
          <a:bodyPr spcFirstLastPara="1" wrap="square" lIns="91425" tIns="45700" rIns="91425" bIns="45700" anchor="t" anchorCtr="0">
            <a:normAutofit/>
          </a:bodyPr>
          <a:lstStyle/>
          <a:p>
            <a:pPr marL="457200" lvl="0" indent="-342900" algn="l" rtl="0">
              <a:lnSpc>
                <a:spcPct val="200000"/>
              </a:lnSpc>
              <a:spcBef>
                <a:spcPts val="0"/>
              </a:spcBef>
              <a:spcAft>
                <a:spcPts val="0"/>
              </a:spcAft>
              <a:buClr>
                <a:schemeClr val="dk1"/>
              </a:buClr>
              <a:buSzPts val="1800"/>
              <a:buFont typeface="Oswald"/>
              <a:buChar char="●"/>
            </a:pPr>
            <a:r>
              <a:rPr lang="en-US" sz="1800" b="1" dirty="0">
                <a:solidFill>
                  <a:srgbClr val="C00000"/>
                </a:solidFill>
                <a:latin typeface="Oswald"/>
                <a:ea typeface="Oswald"/>
                <a:cs typeface="Oswald"/>
                <a:sym typeface="Oswald"/>
              </a:rPr>
              <a:t>PATCH</a:t>
            </a:r>
            <a:r>
              <a:rPr lang="en-US" sz="1800" b="1" dirty="0">
                <a:latin typeface="Oswald"/>
                <a:ea typeface="Oswald"/>
                <a:cs typeface="Oswald"/>
                <a:sym typeface="Oswald"/>
              </a:rPr>
              <a:t>:</a:t>
            </a:r>
            <a:r>
              <a:rPr lang="en-US" sz="1800" dirty="0">
                <a:latin typeface="Oswald"/>
                <a:ea typeface="Oswald"/>
                <a:cs typeface="Oswald"/>
                <a:sym typeface="Oswald"/>
              </a:rPr>
              <a:t> </a:t>
            </a:r>
            <a:r>
              <a:rPr lang="en-US" sz="1800" dirty="0" err="1">
                <a:latin typeface="Oswald"/>
                <a:ea typeface="Oswald"/>
                <a:cs typeface="Oswald"/>
                <a:sym typeface="Oswald"/>
              </a:rPr>
              <a:t>Để</a:t>
            </a:r>
            <a:r>
              <a:rPr lang="en-US" sz="1800" dirty="0">
                <a:latin typeface="Oswald"/>
                <a:ea typeface="Oswald"/>
                <a:cs typeface="Oswald"/>
                <a:sym typeface="Oswald"/>
              </a:rPr>
              <a:t> </a:t>
            </a:r>
            <a:r>
              <a:rPr lang="en-US" sz="1800" dirty="0" err="1">
                <a:latin typeface="Oswald"/>
                <a:ea typeface="Oswald"/>
                <a:cs typeface="Oswald"/>
                <a:sym typeface="Oswald"/>
              </a:rPr>
              <a:t>cập</a:t>
            </a:r>
            <a:r>
              <a:rPr lang="en-US" sz="1800" dirty="0">
                <a:latin typeface="Oswald"/>
                <a:ea typeface="Oswald"/>
                <a:cs typeface="Oswald"/>
                <a:sym typeface="Oswald"/>
              </a:rPr>
              <a:t> </a:t>
            </a:r>
            <a:r>
              <a:rPr lang="en-US" sz="1800" dirty="0" err="1">
                <a:latin typeface="Oswald"/>
                <a:ea typeface="Oswald"/>
                <a:cs typeface="Oswald"/>
                <a:sym typeface="Oswald"/>
              </a:rPr>
              <a:t>nhật</a:t>
            </a:r>
            <a:r>
              <a:rPr lang="en-US" sz="1800" dirty="0">
                <a:latin typeface="Oswald"/>
                <a:ea typeface="Oswald"/>
                <a:cs typeface="Oswald"/>
                <a:sym typeface="Oswald"/>
              </a:rPr>
              <a:t> </a:t>
            </a:r>
            <a:r>
              <a:rPr lang="en-US" sz="1800" b="1" dirty="0" err="1">
                <a:latin typeface="Oswald"/>
                <a:ea typeface="Oswald"/>
                <a:cs typeface="Oswald"/>
                <a:sym typeface="Oswald"/>
              </a:rPr>
              <a:t>một</a:t>
            </a:r>
            <a:r>
              <a:rPr lang="en-US" sz="1800" b="1" dirty="0">
                <a:latin typeface="Oswald"/>
                <a:ea typeface="Oswald"/>
                <a:cs typeface="Oswald"/>
                <a:sym typeface="Oswald"/>
              </a:rPr>
              <a:t> </a:t>
            </a:r>
            <a:r>
              <a:rPr lang="en-US" sz="1800" b="1" dirty="0" err="1">
                <a:latin typeface="Oswald"/>
                <a:ea typeface="Oswald"/>
                <a:cs typeface="Oswald"/>
                <a:sym typeface="Oswald"/>
              </a:rPr>
              <a:t>phần</a:t>
            </a:r>
            <a:r>
              <a:rPr lang="en-US" sz="1800" dirty="0">
                <a:latin typeface="Oswald"/>
                <a:ea typeface="Oswald"/>
                <a:cs typeface="Oswald"/>
                <a:sym typeface="Oswald"/>
              </a:rPr>
              <a:t> </a:t>
            </a:r>
            <a:r>
              <a:rPr lang="en-US" sz="1800" dirty="0" err="1">
                <a:latin typeface="Oswald"/>
                <a:ea typeface="Oswald"/>
                <a:cs typeface="Oswald"/>
                <a:sym typeface="Oswald"/>
              </a:rPr>
              <a:t>tài</a:t>
            </a:r>
            <a:r>
              <a:rPr lang="en-US" sz="1800" dirty="0">
                <a:latin typeface="Oswald"/>
                <a:ea typeface="Oswald"/>
                <a:cs typeface="Oswald"/>
                <a:sym typeface="Oswald"/>
              </a:rPr>
              <a:t> </a:t>
            </a:r>
            <a:r>
              <a:rPr lang="en-US" sz="1800" dirty="0" err="1">
                <a:latin typeface="Oswald"/>
                <a:ea typeface="Oswald"/>
                <a:cs typeface="Oswald"/>
                <a:sym typeface="Oswald"/>
              </a:rPr>
              <a:t>nguyên</a:t>
            </a:r>
            <a:r>
              <a:rPr lang="en-US" sz="1800" dirty="0">
                <a:latin typeface="Oswald"/>
                <a:ea typeface="Oswald"/>
                <a:cs typeface="Oswald"/>
                <a:sym typeface="Oswald"/>
              </a:rPr>
              <a:t>. </a:t>
            </a:r>
            <a:br>
              <a:rPr lang="en-US" sz="1800" dirty="0">
                <a:latin typeface="Oswald"/>
                <a:ea typeface="Oswald"/>
                <a:cs typeface="Oswald"/>
                <a:sym typeface="Oswald"/>
              </a:rPr>
            </a:br>
            <a:r>
              <a:rPr lang="en-US" sz="1800" dirty="0" err="1">
                <a:latin typeface="Oswald"/>
                <a:ea typeface="Oswald"/>
                <a:cs typeface="Oswald"/>
                <a:sym typeface="Oswald"/>
              </a:rPr>
              <a:t>Ví</a:t>
            </a:r>
            <a:r>
              <a:rPr lang="en-US" sz="1800" dirty="0">
                <a:latin typeface="Oswald"/>
                <a:ea typeface="Oswald"/>
                <a:cs typeface="Oswald"/>
                <a:sym typeface="Oswald"/>
              </a:rPr>
              <a:t> </a:t>
            </a:r>
            <a:r>
              <a:rPr lang="en-US" sz="1800" dirty="0" err="1">
                <a:latin typeface="Oswald"/>
                <a:ea typeface="Oswald"/>
                <a:cs typeface="Oswald"/>
                <a:sym typeface="Oswald"/>
              </a:rPr>
              <a:t>dụ</a:t>
            </a:r>
            <a:r>
              <a:rPr lang="en-US" sz="1800" dirty="0">
                <a:latin typeface="Oswald"/>
                <a:ea typeface="Oswald"/>
                <a:cs typeface="Oswald"/>
                <a:sym typeface="Oswald"/>
              </a:rPr>
              <a:t>: API </a:t>
            </a:r>
            <a:r>
              <a:rPr lang="en-US" sz="1800" b="1" dirty="0" err="1">
                <a:latin typeface="Oswald"/>
                <a:ea typeface="Oswald"/>
                <a:cs typeface="Oswald"/>
                <a:sym typeface="Oswald"/>
              </a:rPr>
              <a:t>cập</a:t>
            </a:r>
            <a:r>
              <a:rPr lang="en-US" sz="1800" b="1" dirty="0">
                <a:latin typeface="Oswald"/>
                <a:ea typeface="Oswald"/>
                <a:cs typeface="Oswald"/>
                <a:sym typeface="Oswald"/>
              </a:rPr>
              <a:t> </a:t>
            </a:r>
            <a:r>
              <a:rPr lang="en-US" sz="1800" b="1" dirty="0" err="1">
                <a:latin typeface="Oswald"/>
                <a:ea typeface="Oswald"/>
                <a:cs typeface="Oswald"/>
                <a:sym typeface="Oswald"/>
              </a:rPr>
              <a:t>nhật</a:t>
            </a:r>
            <a:r>
              <a:rPr lang="en-US" sz="1800" b="1" dirty="0">
                <a:latin typeface="Oswald"/>
                <a:ea typeface="Oswald"/>
                <a:cs typeface="Oswald"/>
                <a:sym typeface="Oswald"/>
              </a:rPr>
              <a:t> email</a:t>
            </a:r>
            <a:r>
              <a:rPr lang="en-US" sz="1800" dirty="0">
                <a:latin typeface="Oswald"/>
                <a:ea typeface="Oswald"/>
                <a:cs typeface="Oswald"/>
                <a:sym typeface="Oswald"/>
              </a:rPr>
              <a:t> </a:t>
            </a:r>
            <a:r>
              <a:rPr lang="en-US" sz="1800" dirty="0" err="1">
                <a:latin typeface="Oswald"/>
                <a:ea typeface="Oswald"/>
                <a:cs typeface="Oswald"/>
                <a:sym typeface="Oswald"/>
              </a:rPr>
              <a:t>cho</a:t>
            </a:r>
            <a:r>
              <a:rPr lang="en-US" sz="1800" dirty="0">
                <a:latin typeface="Oswald"/>
                <a:ea typeface="Oswald"/>
                <a:cs typeface="Oswald"/>
                <a:sym typeface="Oswald"/>
              </a:rPr>
              <a:t> </a:t>
            </a:r>
            <a:r>
              <a:rPr lang="en-US" sz="1800" dirty="0" err="1">
                <a:latin typeface="Oswald"/>
                <a:ea typeface="Oswald"/>
                <a:cs typeface="Oswald"/>
                <a:sym typeface="Oswald"/>
              </a:rPr>
              <a:t>người</a:t>
            </a:r>
            <a:r>
              <a:rPr lang="en-US" sz="1800" dirty="0">
                <a:latin typeface="Oswald"/>
                <a:ea typeface="Oswald"/>
                <a:cs typeface="Oswald"/>
                <a:sym typeface="Oswald"/>
              </a:rPr>
              <a:t> </a:t>
            </a:r>
            <a:r>
              <a:rPr lang="en-US" sz="1800" dirty="0" err="1" smtClean="0">
                <a:latin typeface="Oswald"/>
                <a:ea typeface="Oswald"/>
                <a:cs typeface="Oswald"/>
                <a:sym typeface="Oswald"/>
              </a:rPr>
              <a:t>dùng</a:t>
            </a:r>
            <a:r>
              <a:rPr lang="en-US" sz="1800" dirty="0" smtClean="0">
                <a:latin typeface="Oswald"/>
                <a:ea typeface="Oswald"/>
                <a:cs typeface="Oswald"/>
                <a:sym typeface="Oswald"/>
              </a:rPr>
              <a:t>:</a:t>
            </a:r>
          </a:p>
          <a:p>
            <a:pPr marL="457200" lvl="0" indent="-342900" algn="l" rtl="0">
              <a:lnSpc>
                <a:spcPct val="200000"/>
              </a:lnSpc>
              <a:spcBef>
                <a:spcPts val="0"/>
              </a:spcBef>
              <a:spcAft>
                <a:spcPts val="0"/>
              </a:spcAft>
              <a:buClr>
                <a:schemeClr val="dk1"/>
              </a:buClr>
              <a:buSzPts val="1800"/>
              <a:buFont typeface="Oswald"/>
              <a:buChar char="●"/>
            </a:pPr>
            <a:r>
              <a:rPr lang="en-US" sz="1800" b="1" dirty="0" smtClean="0">
                <a:solidFill>
                  <a:srgbClr val="C00000"/>
                </a:solidFill>
                <a:latin typeface="Oswald"/>
                <a:ea typeface="Oswald"/>
                <a:cs typeface="Oswald"/>
                <a:sym typeface="Oswald"/>
              </a:rPr>
              <a:t>DELETE</a:t>
            </a:r>
            <a:r>
              <a:rPr lang="en-US" sz="1800" b="1" dirty="0">
                <a:latin typeface="Oswald"/>
                <a:ea typeface="Oswald"/>
                <a:cs typeface="Oswald"/>
                <a:sym typeface="Oswald"/>
              </a:rPr>
              <a:t>:</a:t>
            </a:r>
            <a:r>
              <a:rPr lang="en-US" sz="1800" dirty="0">
                <a:latin typeface="Oswald"/>
                <a:ea typeface="Oswald"/>
                <a:cs typeface="Oswald"/>
                <a:sym typeface="Oswald"/>
              </a:rPr>
              <a:t> </a:t>
            </a:r>
            <a:r>
              <a:rPr lang="en-US" sz="1800" dirty="0" err="1">
                <a:latin typeface="Oswald"/>
                <a:ea typeface="Oswald"/>
                <a:cs typeface="Oswald"/>
                <a:sym typeface="Oswald"/>
              </a:rPr>
              <a:t>Để</a:t>
            </a:r>
            <a:r>
              <a:rPr lang="en-US" sz="1800" dirty="0">
                <a:latin typeface="Oswald"/>
                <a:ea typeface="Oswald"/>
                <a:cs typeface="Oswald"/>
                <a:sym typeface="Oswald"/>
              </a:rPr>
              <a:t> </a:t>
            </a:r>
            <a:r>
              <a:rPr lang="en-US" sz="1800" dirty="0" err="1">
                <a:latin typeface="Oswald"/>
                <a:ea typeface="Oswald"/>
                <a:cs typeface="Oswald"/>
                <a:sym typeface="Oswald"/>
              </a:rPr>
              <a:t>xóa</a:t>
            </a:r>
            <a:r>
              <a:rPr lang="en-US" sz="1800" dirty="0">
                <a:latin typeface="Oswald"/>
                <a:ea typeface="Oswald"/>
                <a:cs typeface="Oswald"/>
                <a:sym typeface="Oswald"/>
              </a:rPr>
              <a:t> </a:t>
            </a:r>
            <a:r>
              <a:rPr lang="en-US" sz="1800" dirty="0" err="1">
                <a:latin typeface="Oswald"/>
                <a:ea typeface="Oswald"/>
                <a:cs typeface="Oswald"/>
                <a:sym typeface="Oswald"/>
              </a:rPr>
              <a:t>tài</a:t>
            </a:r>
            <a:r>
              <a:rPr lang="en-US" sz="1800" dirty="0">
                <a:latin typeface="Oswald"/>
                <a:ea typeface="Oswald"/>
                <a:cs typeface="Oswald"/>
                <a:sym typeface="Oswald"/>
              </a:rPr>
              <a:t> </a:t>
            </a:r>
            <a:r>
              <a:rPr lang="en-US" sz="1800" dirty="0" err="1">
                <a:latin typeface="Oswald"/>
                <a:ea typeface="Oswald"/>
                <a:cs typeface="Oswald"/>
                <a:sym typeface="Oswald"/>
              </a:rPr>
              <a:t>nguyên</a:t>
            </a:r>
            <a:r>
              <a:rPr lang="en-US" sz="1800" dirty="0">
                <a:latin typeface="Oswald"/>
                <a:ea typeface="Oswald"/>
                <a:cs typeface="Oswald"/>
                <a:sym typeface="Oswald"/>
              </a:rPr>
              <a:t>. </a:t>
            </a:r>
            <a:br>
              <a:rPr lang="en-US" sz="1800" dirty="0">
                <a:latin typeface="Oswald"/>
                <a:ea typeface="Oswald"/>
                <a:cs typeface="Oswald"/>
                <a:sym typeface="Oswald"/>
              </a:rPr>
            </a:br>
            <a:r>
              <a:rPr lang="en-US" sz="1800" dirty="0" err="1">
                <a:latin typeface="Oswald"/>
                <a:ea typeface="Oswald"/>
                <a:cs typeface="Oswald"/>
                <a:sym typeface="Oswald"/>
              </a:rPr>
              <a:t>Ví</a:t>
            </a:r>
            <a:r>
              <a:rPr lang="en-US" sz="1800" dirty="0">
                <a:latin typeface="Oswald"/>
                <a:ea typeface="Oswald"/>
                <a:cs typeface="Oswald"/>
                <a:sym typeface="Oswald"/>
              </a:rPr>
              <a:t> </a:t>
            </a:r>
            <a:r>
              <a:rPr lang="en-US" sz="1800" dirty="0" err="1">
                <a:latin typeface="Oswald"/>
                <a:ea typeface="Oswald"/>
                <a:cs typeface="Oswald"/>
                <a:sym typeface="Oswald"/>
              </a:rPr>
              <a:t>dụ</a:t>
            </a:r>
            <a:r>
              <a:rPr lang="en-US" sz="1800" dirty="0">
                <a:latin typeface="Oswald"/>
                <a:ea typeface="Oswald"/>
                <a:cs typeface="Oswald"/>
                <a:sym typeface="Oswald"/>
              </a:rPr>
              <a:t>: API </a:t>
            </a:r>
            <a:r>
              <a:rPr lang="en-US" sz="1800" b="1" dirty="0" err="1">
                <a:latin typeface="Oswald"/>
                <a:ea typeface="Oswald"/>
                <a:cs typeface="Oswald"/>
                <a:sym typeface="Oswald"/>
              </a:rPr>
              <a:t>xóa</a:t>
            </a:r>
            <a:r>
              <a:rPr lang="en-US" sz="1800" dirty="0">
                <a:latin typeface="Oswald"/>
                <a:ea typeface="Oswald"/>
                <a:cs typeface="Oswald"/>
                <a:sym typeface="Oswald"/>
              </a:rPr>
              <a:t> </a:t>
            </a:r>
            <a:r>
              <a:rPr lang="en-US" sz="1800" dirty="0" err="1">
                <a:latin typeface="Oswald"/>
                <a:ea typeface="Oswald"/>
                <a:cs typeface="Oswald"/>
                <a:sym typeface="Oswald"/>
              </a:rPr>
              <a:t>người</a:t>
            </a:r>
            <a:r>
              <a:rPr lang="en-US" sz="1800" dirty="0">
                <a:latin typeface="Oswald"/>
                <a:ea typeface="Oswald"/>
                <a:cs typeface="Oswald"/>
                <a:sym typeface="Oswald"/>
              </a:rPr>
              <a:t> </a:t>
            </a:r>
            <a:r>
              <a:rPr lang="en-US" sz="1800" dirty="0" err="1">
                <a:latin typeface="Oswald"/>
                <a:ea typeface="Oswald"/>
                <a:cs typeface="Oswald"/>
                <a:sym typeface="Oswald"/>
              </a:rPr>
              <a:t>dùng</a:t>
            </a:r>
            <a:r>
              <a:rPr lang="en-US" sz="1800" dirty="0">
                <a:latin typeface="Oswald"/>
                <a:ea typeface="Oswald"/>
                <a:cs typeface="Oswald"/>
                <a:sym typeface="Oswald"/>
              </a:rPr>
              <a:t> </a:t>
            </a:r>
            <a:r>
              <a:rPr lang="en-US" sz="1800" dirty="0" err="1">
                <a:latin typeface="Oswald"/>
                <a:ea typeface="Oswald"/>
                <a:cs typeface="Oswald"/>
                <a:sym typeface="Oswald"/>
              </a:rPr>
              <a:t>có</a:t>
            </a:r>
            <a:r>
              <a:rPr lang="en-US" sz="1800" dirty="0">
                <a:latin typeface="Oswald"/>
                <a:ea typeface="Oswald"/>
                <a:cs typeface="Oswald"/>
                <a:sym typeface="Oswald"/>
              </a:rPr>
              <a:t> ID = 123: </a:t>
            </a:r>
            <a:r>
              <a:rPr lang="en-US" sz="1800" b="1" dirty="0">
                <a:latin typeface="Oswald"/>
                <a:ea typeface="Oswald"/>
                <a:cs typeface="Oswald"/>
                <a:sym typeface="Oswald"/>
              </a:rPr>
              <a:t>DELETE /users/123</a:t>
            </a:r>
            <a:endParaRPr dirty="0"/>
          </a:p>
        </p:txBody>
      </p:sp>
      <p:sp>
        <p:nvSpPr>
          <p:cNvPr id="264" name="Google Shape;264;g25824957ffb_0_74"/>
          <p:cNvSpPr txBox="1">
            <a:spLocks noGrp="1"/>
          </p:cNvSpPr>
          <p:nvPr>
            <p:ph type="title"/>
          </p:nvPr>
        </p:nvSpPr>
        <p:spPr>
          <a:xfrm>
            <a:off x="838200" y="509145"/>
            <a:ext cx="8463600" cy="945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sz="2400">
                <a:solidFill>
                  <a:srgbClr val="C00000"/>
                </a:solidFill>
                <a:latin typeface="Montserrat"/>
                <a:ea typeface="Montserrat"/>
                <a:cs typeface="Montserrat"/>
                <a:sym typeface="Montserrat"/>
              </a:rPr>
              <a:t>2. Các phương thức HTTP basic và HTTP Preflight</a:t>
            </a:r>
            <a:r>
              <a:rPr lang="en-US">
                <a:solidFill>
                  <a:srgbClr val="C00000"/>
                </a:solidFill>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25824957ffb_0_81"/>
          <p:cNvSpPr txBox="1">
            <a:spLocks noGrp="1"/>
          </p:cNvSpPr>
          <p:nvPr>
            <p:ph type="body" idx="1"/>
          </p:nvPr>
        </p:nvSpPr>
        <p:spPr>
          <a:xfrm>
            <a:off x="838200" y="1626700"/>
            <a:ext cx="10401300" cy="4371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700" b="1">
                <a:solidFill>
                  <a:srgbClr val="C00000"/>
                </a:solidFill>
              </a:rPr>
              <a:t>Một số ví dụ về cách đặt tên API URL (Endpoint)</a:t>
            </a:r>
            <a:endParaRPr sz="1700" b="1">
              <a:solidFill>
                <a:srgbClr val="C00000"/>
              </a:solidFill>
            </a:endParaRPr>
          </a:p>
        </p:txBody>
      </p:sp>
      <p:sp>
        <p:nvSpPr>
          <p:cNvPr id="271" name="Google Shape;271;g25824957ffb_0_81"/>
          <p:cNvSpPr txBox="1">
            <a:spLocks noGrp="1"/>
          </p:cNvSpPr>
          <p:nvPr>
            <p:ph type="title"/>
          </p:nvPr>
        </p:nvSpPr>
        <p:spPr>
          <a:xfrm>
            <a:off x="838200" y="509145"/>
            <a:ext cx="8463600" cy="945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sz="2400">
                <a:solidFill>
                  <a:srgbClr val="C00000"/>
                </a:solidFill>
                <a:latin typeface="Montserrat"/>
                <a:ea typeface="Montserrat"/>
                <a:cs typeface="Montserrat"/>
                <a:sym typeface="Montserrat"/>
              </a:rPr>
              <a:t>2. Các phương thức HTTP basic và HTTP Preflight</a:t>
            </a:r>
            <a:r>
              <a:rPr lang="en-US">
                <a:solidFill>
                  <a:srgbClr val="C00000"/>
                </a:solidFill>
              </a:rPr>
              <a:t> </a:t>
            </a:r>
            <a:endParaRPr/>
          </a:p>
        </p:txBody>
      </p:sp>
      <p:graphicFrame>
        <p:nvGraphicFramePr>
          <p:cNvPr id="272" name="Google Shape;272;g25824957ffb_0_81"/>
          <p:cNvGraphicFramePr/>
          <p:nvPr/>
        </p:nvGraphicFramePr>
        <p:xfrm>
          <a:off x="838200" y="2277055"/>
          <a:ext cx="10401300" cy="3911895"/>
        </p:xfrm>
        <a:graphic>
          <a:graphicData uri="http://schemas.openxmlformats.org/drawingml/2006/table">
            <a:tbl>
              <a:tblPr>
                <a:noFill/>
                <a:tableStyleId>{EEC230F1-99A8-4EB8-9419-A778263C896F}</a:tableStyleId>
              </a:tblPr>
              <a:tblGrid>
                <a:gridCol w="1753750"/>
                <a:gridCol w="1789550"/>
                <a:gridCol w="1714500"/>
                <a:gridCol w="1714500"/>
                <a:gridCol w="1714500"/>
                <a:gridCol w="1714500"/>
              </a:tblGrid>
              <a:tr h="440300">
                <a:tc>
                  <a:txBody>
                    <a:bodyPr/>
                    <a:lstStyle/>
                    <a:p>
                      <a:pPr marL="0" lvl="0" indent="0" algn="l" rtl="0">
                        <a:spcBef>
                          <a:spcPts val="0"/>
                        </a:spcBef>
                        <a:spcAft>
                          <a:spcPts val="0"/>
                        </a:spcAft>
                        <a:buNone/>
                      </a:pPr>
                      <a:r>
                        <a:rPr lang="en-US" sz="1800" b="1">
                          <a:solidFill>
                            <a:srgbClr val="1C4587"/>
                          </a:solidFill>
                        </a:rPr>
                        <a:t>Tài nguyên</a:t>
                      </a:r>
                      <a:endParaRPr sz="1800" b="1">
                        <a:solidFill>
                          <a:srgbClr val="1C4587"/>
                        </a:solidFill>
                      </a:endParaRPr>
                    </a:p>
                  </a:txBody>
                  <a:tcPr marL="91425" marR="91425" marT="91425" marB="91425">
                    <a:solidFill>
                      <a:srgbClr val="A4C2F4"/>
                    </a:solidFill>
                  </a:tcPr>
                </a:tc>
                <a:tc>
                  <a:txBody>
                    <a:bodyPr/>
                    <a:lstStyle/>
                    <a:p>
                      <a:pPr marL="0" lvl="0" indent="0" algn="l" rtl="0">
                        <a:spcBef>
                          <a:spcPts val="0"/>
                        </a:spcBef>
                        <a:spcAft>
                          <a:spcPts val="0"/>
                        </a:spcAft>
                        <a:buNone/>
                      </a:pPr>
                      <a:r>
                        <a:rPr lang="en-US" sz="1800" b="1">
                          <a:solidFill>
                            <a:srgbClr val="1C4587"/>
                          </a:solidFill>
                        </a:rPr>
                        <a:t>GET</a:t>
                      </a:r>
                      <a:endParaRPr sz="1800" b="1">
                        <a:solidFill>
                          <a:srgbClr val="1C4587"/>
                        </a:solidFill>
                      </a:endParaRPr>
                    </a:p>
                  </a:txBody>
                  <a:tcPr marL="91425" marR="91425" marT="91425" marB="91425">
                    <a:solidFill>
                      <a:srgbClr val="A4C2F4"/>
                    </a:solidFill>
                  </a:tcPr>
                </a:tc>
                <a:tc>
                  <a:txBody>
                    <a:bodyPr/>
                    <a:lstStyle/>
                    <a:p>
                      <a:pPr marL="0" lvl="0" indent="0" algn="l" rtl="0">
                        <a:spcBef>
                          <a:spcPts val="0"/>
                        </a:spcBef>
                        <a:spcAft>
                          <a:spcPts val="0"/>
                        </a:spcAft>
                        <a:buNone/>
                      </a:pPr>
                      <a:r>
                        <a:rPr lang="en-US" sz="1800" b="1">
                          <a:solidFill>
                            <a:srgbClr val="1C4587"/>
                          </a:solidFill>
                        </a:rPr>
                        <a:t>POST</a:t>
                      </a:r>
                      <a:endParaRPr sz="1800" b="1">
                        <a:solidFill>
                          <a:srgbClr val="1C4587"/>
                        </a:solidFill>
                      </a:endParaRPr>
                    </a:p>
                  </a:txBody>
                  <a:tcPr marL="91425" marR="91425" marT="91425" marB="91425">
                    <a:solidFill>
                      <a:srgbClr val="A4C2F4"/>
                    </a:solidFill>
                  </a:tcPr>
                </a:tc>
                <a:tc>
                  <a:txBody>
                    <a:bodyPr/>
                    <a:lstStyle/>
                    <a:p>
                      <a:pPr marL="0" lvl="0" indent="0" algn="l" rtl="0">
                        <a:spcBef>
                          <a:spcPts val="0"/>
                        </a:spcBef>
                        <a:spcAft>
                          <a:spcPts val="0"/>
                        </a:spcAft>
                        <a:buNone/>
                      </a:pPr>
                      <a:r>
                        <a:rPr lang="en-US" sz="1800" b="1">
                          <a:solidFill>
                            <a:srgbClr val="1C4587"/>
                          </a:solidFill>
                        </a:rPr>
                        <a:t>PUT</a:t>
                      </a:r>
                      <a:endParaRPr sz="1800" b="1">
                        <a:solidFill>
                          <a:srgbClr val="1C4587"/>
                        </a:solidFill>
                      </a:endParaRPr>
                    </a:p>
                  </a:txBody>
                  <a:tcPr marL="91425" marR="91425" marT="91425" marB="91425">
                    <a:solidFill>
                      <a:srgbClr val="A4C2F4"/>
                    </a:solidFill>
                  </a:tcPr>
                </a:tc>
                <a:tc>
                  <a:txBody>
                    <a:bodyPr/>
                    <a:lstStyle/>
                    <a:p>
                      <a:pPr marL="0" lvl="0" indent="0" algn="l" rtl="0">
                        <a:spcBef>
                          <a:spcPts val="0"/>
                        </a:spcBef>
                        <a:spcAft>
                          <a:spcPts val="0"/>
                        </a:spcAft>
                        <a:buNone/>
                      </a:pPr>
                      <a:r>
                        <a:rPr lang="en-US" sz="1800" b="1">
                          <a:solidFill>
                            <a:srgbClr val="1C4587"/>
                          </a:solidFill>
                        </a:rPr>
                        <a:t>PATCH</a:t>
                      </a:r>
                      <a:endParaRPr sz="1800" b="1">
                        <a:solidFill>
                          <a:srgbClr val="1C4587"/>
                        </a:solidFill>
                      </a:endParaRPr>
                    </a:p>
                  </a:txBody>
                  <a:tcPr marL="91425" marR="91425" marT="91425" marB="91425">
                    <a:solidFill>
                      <a:srgbClr val="A4C2F4"/>
                    </a:solidFill>
                  </a:tcPr>
                </a:tc>
                <a:tc>
                  <a:txBody>
                    <a:bodyPr/>
                    <a:lstStyle/>
                    <a:p>
                      <a:pPr marL="0" lvl="0" indent="0" algn="l" rtl="0">
                        <a:spcBef>
                          <a:spcPts val="0"/>
                        </a:spcBef>
                        <a:spcAft>
                          <a:spcPts val="0"/>
                        </a:spcAft>
                        <a:buNone/>
                      </a:pPr>
                      <a:r>
                        <a:rPr lang="en-US" sz="1800" b="1">
                          <a:solidFill>
                            <a:srgbClr val="1C4587"/>
                          </a:solidFill>
                        </a:rPr>
                        <a:t>DELETE</a:t>
                      </a:r>
                      <a:endParaRPr sz="1800" b="1">
                        <a:solidFill>
                          <a:srgbClr val="1C4587"/>
                        </a:solidFill>
                      </a:endParaRPr>
                    </a:p>
                  </a:txBody>
                  <a:tcPr marL="91425" marR="91425" marT="91425" marB="91425">
                    <a:solidFill>
                      <a:srgbClr val="A4C2F4"/>
                    </a:solidFill>
                  </a:tcPr>
                </a:tc>
              </a:tr>
              <a:tr h="914475">
                <a:tc>
                  <a:txBody>
                    <a:bodyPr/>
                    <a:lstStyle/>
                    <a:p>
                      <a:pPr marL="0" lvl="0" indent="0" algn="l" rtl="0">
                        <a:spcBef>
                          <a:spcPts val="0"/>
                        </a:spcBef>
                        <a:spcAft>
                          <a:spcPts val="0"/>
                        </a:spcAft>
                        <a:buNone/>
                      </a:pPr>
                      <a:r>
                        <a:rPr lang="en-US"/>
                        <a:t>/users</a:t>
                      </a:r>
                      <a:endParaRPr/>
                    </a:p>
                  </a:txBody>
                  <a:tcPr marL="91425" marR="91425" marT="91425" marB="91425"/>
                </a:tc>
                <a:tc>
                  <a:txBody>
                    <a:bodyPr/>
                    <a:lstStyle/>
                    <a:p>
                      <a:pPr marL="0" lvl="0" indent="0" algn="l" rtl="0">
                        <a:spcBef>
                          <a:spcPts val="0"/>
                        </a:spcBef>
                        <a:spcAft>
                          <a:spcPts val="0"/>
                        </a:spcAft>
                        <a:buNone/>
                      </a:pPr>
                      <a:r>
                        <a:rPr lang="en-US"/>
                        <a:t>Lấy danh sách tất cả người dùng</a:t>
                      </a:r>
                      <a:endParaRPr/>
                    </a:p>
                  </a:txBody>
                  <a:tcPr marL="91425" marR="91425" marT="91425" marB="91425"/>
                </a:tc>
                <a:tc>
                  <a:txBody>
                    <a:bodyPr/>
                    <a:lstStyle/>
                    <a:p>
                      <a:pPr marL="0" lvl="0" indent="0" algn="l" rtl="0">
                        <a:spcBef>
                          <a:spcPts val="0"/>
                        </a:spcBef>
                        <a:spcAft>
                          <a:spcPts val="0"/>
                        </a:spcAft>
                        <a:buNone/>
                      </a:pPr>
                      <a:r>
                        <a:rPr lang="en-US"/>
                        <a:t>Thêm mới một người dùng</a:t>
                      </a:r>
                      <a:endParaRPr/>
                    </a:p>
                  </a:txBody>
                  <a:tcPr marL="91425" marR="91425" marT="91425" marB="91425"/>
                </a:tc>
                <a:tc>
                  <a:txBody>
                    <a:bodyPr/>
                    <a:lstStyle/>
                    <a:p>
                      <a:pPr marL="0" lvl="0" indent="0" algn="l" rtl="0">
                        <a:spcBef>
                          <a:spcPts val="0"/>
                        </a:spcBef>
                        <a:spcAft>
                          <a:spcPts val="0"/>
                        </a:spcAft>
                        <a:buNone/>
                      </a:pPr>
                      <a:r>
                        <a:rPr lang="en-US"/>
                        <a:t>Cập nhật thông tin tất cả người dùng</a:t>
                      </a:r>
                      <a:endParaRPr/>
                    </a:p>
                  </a:txBody>
                  <a:tcPr marL="91425" marR="91425" marT="91425" marB="91425"/>
                </a:tc>
                <a:tc>
                  <a:txBody>
                    <a:bodyPr/>
                    <a:lstStyle/>
                    <a:p>
                      <a:pPr marL="0" lvl="0" indent="0" algn="l" rtl="0">
                        <a:spcBef>
                          <a:spcPts val="0"/>
                        </a:spcBef>
                        <a:spcAft>
                          <a:spcPts val="0"/>
                        </a:spcAft>
                        <a:buNone/>
                      </a:pPr>
                      <a:r>
                        <a:rPr lang="en-US"/>
                        <a:t>Cập nhật một phần thông tin cho tất cả người dùng</a:t>
                      </a:r>
                      <a:endParaRPr/>
                    </a:p>
                  </a:txBody>
                  <a:tcPr marL="91425" marR="91425" marT="91425" marB="91425"/>
                </a:tc>
                <a:tc>
                  <a:txBody>
                    <a:bodyPr/>
                    <a:lstStyle/>
                    <a:p>
                      <a:pPr marL="0" lvl="0" indent="0" algn="l" rtl="0">
                        <a:spcBef>
                          <a:spcPts val="0"/>
                        </a:spcBef>
                        <a:spcAft>
                          <a:spcPts val="0"/>
                        </a:spcAft>
                        <a:buNone/>
                      </a:pPr>
                      <a:r>
                        <a:rPr lang="en-US"/>
                        <a:t>Xóa tất cả người dùng</a:t>
                      </a:r>
                      <a:endParaRPr/>
                    </a:p>
                  </a:txBody>
                  <a:tcPr marL="91425" marR="91425" marT="91425" marB="91425"/>
                </a:tc>
              </a:tr>
              <a:tr h="1151575">
                <a:tc>
                  <a:txBody>
                    <a:bodyPr/>
                    <a:lstStyle/>
                    <a:p>
                      <a:pPr marL="0" lvl="0" indent="0" algn="l" rtl="0">
                        <a:spcBef>
                          <a:spcPts val="0"/>
                        </a:spcBef>
                        <a:spcAft>
                          <a:spcPts val="0"/>
                        </a:spcAft>
                        <a:buNone/>
                      </a:pPr>
                      <a:r>
                        <a:rPr lang="en-US"/>
                        <a:t>/users/123</a:t>
                      </a:r>
                      <a:endParaRPr/>
                    </a:p>
                  </a:txBody>
                  <a:tcPr marL="91425" marR="91425" marT="91425" marB="91425"/>
                </a:tc>
                <a:tc>
                  <a:txBody>
                    <a:bodyPr/>
                    <a:lstStyle/>
                    <a:p>
                      <a:pPr marL="0" lvl="0" indent="0" algn="l" rtl="0">
                        <a:spcBef>
                          <a:spcPts val="0"/>
                        </a:spcBef>
                        <a:spcAft>
                          <a:spcPts val="0"/>
                        </a:spcAft>
                        <a:buNone/>
                      </a:pPr>
                      <a:r>
                        <a:rPr lang="en-US"/>
                        <a:t>Lấy thông tin chi tiết một người có Id là 123</a:t>
                      </a:r>
                      <a:endParaRPr/>
                    </a:p>
                  </a:txBody>
                  <a:tcPr marL="91425" marR="91425" marT="91425" marB="91425"/>
                </a:tc>
                <a:tc>
                  <a:txBody>
                    <a:bodyPr/>
                    <a:lstStyle/>
                    <a:p>
                      <a:pPr marL="0" lvl="0" indent="0" algn="l" rtl="0">
                        <a:spcBef>
                          <a:spcPts val="0"/>
                        </a:spcBef>
                        <a:spcAft>
                          <a:spcPts val="0"/>
                        </a:spcAft>
                        <a:buNone/>
                      </a:pPr>
                      <a:r>
                        <a:rPr lang="en-US"/>
                        <a:t>Lỗi</a:t>
                      </a:r>
                      <a:endParaRPr/>
                    </a:p>
                  </a:txBody>
                  <a:tcPr marL="91425" marR="91425" marT="91425" marB="91425"/>
                </a:tc>
                <a:tc>
                  <a:txBody>
                    <a:bodyPr/>
                    <a:lstStyle/>
                    <a:p>
                      <a:pPr marL="0" lvl="0" indent="0" algn="l" rtl="0">
                        <a:spcBef>
                          <a:spcPts val="0"/>
                        </a:spcBef>
                        <a:spcAft>
                          <a:spcPts val="0"/>
                        </a:spcAft>
                        <a:buNone/>
                      </a:pPr>
                      <a:r>
                        <a:rPr lang="en-US"/>
                        <a:t>Cập nhật thông tin chi tiết cho người dùng có Id 123 nếu có tồn tại</a:t>
                      </a:r>
                      <a:endParaRPr/>
                    </a:p>
                  </a:txBody>
                  <a:tcPr marL="91425" marR="91425" marT="91425" marB="91425"/>
                </a:tc>
                <a:tc>
                  <a:txBody>
                    <a:bodyPr/>
                    <a:lstStyle/>
                    <a:p>
                      <a:pPr marL="0" lvl="0" indent="0" algn="l" rtl="0">
                        <a:spcBef>
                          <a:spcPts val="0"/>
                        </a:spcBef>
                        <a:spcAft>
                          <a:spcPts val="0"/>
                        </a:spcAft>
                        <a:buNone/>
                      </a:pPr>
                      <a:r>
                        <a:rPr lang="en-US"/>
                        <a:t>Cập nhật một trường thông tin cho người dùng có Id là 123</a:t>
                      </a:r>
                      <a:endParaRPr/>
                    </a:p>
                  </a:txBody>
                  <a:tcPr marL="91425" marR="91425" marT="91425" marB="91425"/>
                </a:tc>
                <a:tc>
                  <a:txBody>
                    <a:bodyPr/>
                    <a:lstStyle/>
                    <a:p>
                      <a:pPr marL="0" lvl="0" indent="0" algn="l" rtl="0">
                        <a:spcBef>
                          <a:spcPts val="0"/>
                        </a:spcBef>
                        <a:spcAft>
                          <a:spcPts val="0"/>
                        </a:spcAft>
                        <a:buNone/>
                      </a:pPr>
                      <a:r>
                        <a:rPr lang="en-US"/>
                        <a:t>Xóa thông tin người dùng có Id là 123</a:t>
                      </a:r>
                      <a:endParaRPr/>
                    </a:p>
                  </a:txBody>
                  <a:tcPr marL="91425" marR="91425" marT="91425" marB="91425"/>
                </a:tc>
              </a:tr>
              <a:tr h="1388675">
                <a:tc>
                  <a:txBody>
                    <a:bodyPr/>
                    <a:lstStyle/>
                    <a:p>
                      <a:pPr marL="0" lvl="0" indent="0" algn="l" rtl="0">
                        <a:spcBef>
                          <a:spcPts val="0"/>
                        </a:spcBef>
                        <a:spcAft>
                          <a:spcPts val="0"/>
                        </a:spcAft>
                        <a:buNone/>
                      </a:pPr>
                      <a:r>
                        <a:rPr lang="en-US"/>
                        <a:t>/users/123/orders</a:t>
                      </a:r>
                      <a:endParaRPr/>
                    </a:p>
                  </a:txBody>
                  <a:tcPr marL="91425" marR="91425" marT="91425" marB="91425"/>
                </a:tc>
                <a:tc>
                  <a:txBody>
                    <a:bodyPr/>
                    <a:lstStyle/>
                    <a:p>
                      <a:pPr marL="0" lvl="0" indent="0" algn="l" rtl="0">
                        <a:spcBef>
                          <a:spcPts val="0"/>
                        </a:spcBef>
                        <a:spcAft>
                          <a:spcPts val="0"/>
                        </a:spcAft>
                        <a:buNone/>
                      </a:pPr>
                      <a:r>
                        <a:rPr lang="en-US"/>
                        <a:t>Lấy danh sách hóa đơn của người dùng có Id là 123</a:t>
                      </a:r>
                      <a:endParaRPr/>
                    </a:p>
                  </a:txBody>
                  <a:tcPr marL="91425" marR="91425" marT="91425" marB="91425"/>
                </a:tc>
                <a:tc>
                  <a:txBody>
                    <a:bodyPr/>
                    <a:lstStyle/>
                    <a:p>
                      <a:pPr marL="0" lvl="0" indent="0" algn="l" rtl="0">
                        <a:spcBef>
                          <a:spcPts val="0"/>
                        </a:spcBef>
                        <a:spcAft>
                          <a:spcPts val="0"/>
                        </a:spcAft>
                        <a:buNone/>
                      </a:pPr>
                      <a:r>
                        <a:rPr lang="en-US"/>
                        <a:t>Tạo một hóa đơn cho người dùng có Id là 123</a:t>
                      </a:r>
                      <a:endParaRPr/>
                    </a:p>
                  </a:txBody>
                  <a:tcPr marL="91425" marR="91425" marT="91425" marB="91425"/>
                </a:tc>
                <a:tc>
                  <a:txBody>
                    <a:bodyPr/>
                    <a:lstStyle/>
                    <a:p>
                      <a:pPr marL="0" lvl="0" indent="0" algn="l" rtl="0">
                        <a:spcBef>
                          <a:spcPts val="0"/>
                        </a:spcBef>
                        <a:spcAft>
                          <a:spcPts val="0"/>
                        </a:spcAft>
                        <a:buNone/>
                      </a:pPr>
                      <a:r>
                        <a:rPr lang="en-US"/>
                        <a:t>Cập nhật thông tin tất cả hóa đơn của người dùng có Id là 123</a:t>
                      </a:r>
                      <a:endParaRPr/>
                    </a:p>
                  </a:txBody>
                  <a:tcPr marL="91425" marR="91425" marT="91425" marB="91425"/>
                </a:tc>
                <a:tc>
                  <a:txBody>
                    <a:bodyPr/>
                    <a:lstStyle/>
                    <a:p>
                      <a:pPr marL="0" lvl="0" indent="0" algn="l" rtl="0">
                        <a:spcBef>
                          <a:spcPts val="0"/>
                        </a:spcBef>
                        <a:spcAft>
                          <a:spcPts val="0"/>
                        </a:spcAft>
                        <a:buNone/>
                      </a:pPr>
                      <a:r>
                        <a:rPr lang="en-US"/>
                        <a:t>Cập nhật một trường thông tin cho tất cả hóa đơn của người dùng có Id là 123</a:t>
                      </a:r>
                      <a:endParaRPr/>
                    </a:p>
                  </a:txBody>
                  <a:tcPr marL="91425" marR="91425" marT="91425" marB="91425"/>
                </a:tc>
                <a:tc>
                  <a:txBody>
                    <a:bodyPr/>
                    <a:lstStyle/>
                    <a:p>
                      <a:pPr marL="0" lvl="0" indent="0" algn="l" rtl="0">
                        <a:spcBef>
                          <a:spcPts val="0"/>
                        </a:spcBef>
                        <a:spcAft>
                          <a:spcPts val="0"/>
                        </a:spcAft>
                        <a:buNone/>
                      </a:pPr>
                      <a:r>
                        <a:rPr lang="en-US"/>
                        <a:t>Xóa tất cả hóa đơn của người dùng có Id là 123</a:t>
                      </a:r>
                      <a:endParaRPr/>
                    </a:p>
                  </a:txBody>
                  <a:tcPr marL="91425" marR="91425" marT="91425" marB="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308" name="Google Shape;308;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309" name="Google Shape;309;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marL="457200" lvl="0" indent="-381000" algn="l" rtl="0">
              <a:lnSpc>
                <a:spcPct val="150000"/>
              </a:lnSpc>
              <a:spcBef>
                <a:spcPts val="2600"/>
              </a:spcBef>
              <a:spcAft>
                <a:spcPts val="0"/>
              </a:spcAft>
              <a:buClr>
                <a:srgbClr val="333333"/>
              </a:buClr>
              <a:buSzPts val="2400"/>
              <a:buChar char="❏"/>
            </a:pPr>
            <a:r>
              <a:rPr lang="en-US" sz="2400">
                <a:solidFill>
                  <a:srgbClr val="333333"/>
                </a:solidFill>
              </a:rPr>
              <a:t>Nắm được các kiến thức về RESTfull API</a:t>
            </a:r>
            <a:endParaRPr sz="2400">
              <a:solidFill>
                <a:srgbClr val="333333"/>
              </a:solidFill>
            </a:endParaRPr>
          </a:p>
          <a:p>
            <a:pPr marL="457200" lvl="0" indent="-381000" algn="l" rtl="0">
              <a:lnSpc>
                <a:spcPct val="150000"/>
              </a:lnSpc>
              <a:spcBef>
                <a:spcPts val="0"/>
              </a:spcBef>
              <a:spcAft>
                <a:spcPts val="0"/>
              </a:spcAft>
              <a:buClr>
                <a:srgbClr val="333333"/>
              </a:buClr>
              <a:buSzPts val="2400"/>
              <a:buChar char="❏"/>
            </a:pPr>
            <a:r>
              <a:rPr lang="en-US" sz="2400">
                <a:solidFill>
                  <a:srgbClr val="333333"/>
                </a:solidFill>
              </a:rPr>
              <a:t>Nắm được các phương thức HTTP request</a:t>
            </a:r>
            <a:endParaRPr sz="2400">
              <a:solidFill>
                <a:srgbClr val="333333"/>
              </a:solidFill>
            </a:endParaRPr>
          </a:p>
          <a:p>
            <a:pPr marL="457200" lvl="0" indent="-381000" algn="l" rtl="0">
              <a:lnSpc>
                <a:spcPct val="150000"/>
              </a:lnSpc>
              <a:spcBef>
                <a:spcPts val="0"/>
              </a:spcBef>
              <a:spcAft>
                <a:spcPts val="0"/>
              </a:spcAft>
              <a:buClr>
                <a:srgbClr val="333333"/>
              </a:buClr>
              <a:buSzPts val="2400"/>
              <a:buChar char="❏"/>
            </a:pPr>
            <a:r>
              <a:rPr lang="en-US" sz="2400">
                <a:solidFill>
                  <a:srgbClr val="333333"/>
                </a:solidFill>
              </a:rPr>
              <a:t>Nắm rõ các mã trạng thái HTTP code</a:t>
            </a:r>
            <a:endParaRPr sz="2400">
              <a:solidFill>
                <a:srgbClr val="333333"/>
              </a:solidFill>
            </a:endParaRPr>
          </a:p>
          <a:p>
            <a:pPr marL="457200" lvl="0" indent="-381000" algn="l" rtl="0">
              <a:lnSpc>
                <a:spcPct val="150000"/>
              </a:lnSpc>
              <a:spcBef>
                <a:spcPts val="0"/>
              </a:spcBef>
              <a:spcAft>
                <a:spcPts val="0"/>
              </a:spcAft>
              <a:buClr>
                <a:srgbClr val="333333"/>
              </a:buClr>
              <a:buSzPts val="2400"/>
              <a:buChar char="❏"/>
            </a:pPr>
            <a:r>
              <a:rPr lang="en-US" sz="2400">
                <a:solidFill>
                  <a:srgbClr val="333333"/>
                </a:solidFill>
              </a:rPr>
              <a:t>Biết cách áp dụng RESTfull API vào Express</a:t>
            </a:r>
            <a:endParaRPr sz="2400">
              <a:solidFill>
                <a:srgbClr val="33333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a:t>KẾT THÚC</a:t>
            </a:r>
            <a:endParaRPr/>
          </a:p>
        </p:txBody>
      </p:sp>
      <p:sp>
        <p:nvSpPr>
          <p:cNvPr id="315" name="Google Shape;315;g11bb26f517d_0_162"/>
          <p:cNvSpPr txBox="1">
            <a:spLocks noGrp="1"/>
          </p:cNvSpPr>
          <p:nvPr>
            <p:ph type="subTitle" idx="1"/>
          </p:nvPr>
        </p:nvSpPr>
        <p:spPr>
          <a:xfrm>
            <a:off x="279991" y="5433627"/>
            <a:ext cx="9144000" cy="165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lt1"/>
              </a:buClr>
              <a:buSzPts val="1600"/>
              <a:buNone/>
            </a:pPr>
            <a:r>
              <a:rPr lang="en-US"/>
              <a:t>HỌC VIỆN ĐÀO TẠO LẬP TRÌNH CHẤT LƯỢNG NHẬT BẢN</a:t>
            </a:r>
            <a:endParaRP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791</Words>
  <Application>Microsoft Office PowerPoint</Application>
  <PresentationFormat>Custom</PresentationFormat>
  <Paragraphs>97</Paragraphs>
  <Slides>11</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Arial</vt:lpstr>
      <vt:lpstr>Montserrat Black</vt:lpstr>
      <vt:lpstr>Montserrat ExtraBold</vt:lpstr>
      <vt:lpstr>Oswald</vt:lpstr>
      <vt:lpstr>Montserrat Medium</vt:lpstr>
      <vt:lpstr>Calibri</vt:lpstr>
      <vt:lpstr>Montserrat</vt:lpstr>
      <vt:lpstr>Trebuchet MS</vt:lpstr>
      <vt:lpstr>Courier New</vt:lpstr>
      <vt:lpstr>Office Theme</vt:lpstr>
      <vt:lpstr>RESTful API</vt:lpstr>
      <vt:lpstr> NỘI DUNG</vt:lpstr>
      <vt:lpstr>1. Restful API là gì ?</vt:lpstr>
      <vt:lpstr>2. Tại Sao sử dụng RESTful API</vt:lpstr>
      <vt:lpstr>3. Status Code trong REST API</vt:lpstr>
      <vt:lpstr>4. Tối ưu code API URL </vt:lpstr>
      <vt:lpstr>2. Các phương thức HTTP basic và HTTP Preflight </vt:lpstr>
      <vt:lpstr>2. Các phương thức HTTP basic và HTTP Preflight </vt:lpstr>
      <vt:lpstr>2. Các phương thức HTTP basic và HTTP Preflight </vt:lpstr>
      <vt:lpstr> TỔNG KẾT</vt:lpstr>
      <vt:lpstr>KẾT THÚC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RESTful API</dc:title>
  <cp:lastModifiedBy>Admin</cp:lastModifiedBy>
  <cp:revision>1</cp:revision>
  <dcterms:modified xsi:type="dcterms:W3CDTF">2023-11-18T05:36:34Z</dcterms:modified>
</cp:coreProperties>
</file>